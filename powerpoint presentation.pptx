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3"/>
  </p:notesMasterIdLst>
  <p:handoutMasterIdLst>
    <p:handoutMasterId r:id="rId14"/>
  </p:handoutMasterIdLst>
  <p:sldIdLst>
    <p:sldId id="275" r:id="rId2"/>
    <p:sldId id="388" r:id="rId3"/>
    <p:sldId id="391" r:id="rId4"/>
    <p:sldId id="392" r:id="rId5"/>
    <p:sldId id="393" r:id="rId6"/>
    <p:sldId id="397" r:id="rId7"/>
    <p:sldId id="394" r:id="rId8"/>
    <p:sldId id="395" r:id="rId9"/>
    <p:sldId id="396" r:id="rId10"/>
    <p:sldId id="366" r:id="rId11"/>
    <p:sldId id="301"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927" autoAdjust="0"/>
    <p:restoredTop sz="94590" autoAdjust="0"/>
  </p:normalViewPr>
  <p:slideViewPr>
    <p:cSldViewPr>
      <p:cViewPr varScale="1">
        <p:scale>
          <a:sx n="65" d="100"/>
          <a:sy n="65" d="100"/>
        </p:scale>
        <p:origin x="1516" y="3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5" d="100"/>
          <a:sy n="55" d="100"/>
        </p:scale>
        <p:origin x="-2904"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3472FC0-3A6E-4FDF-98C7-05D53ADA3185}" type="datetimeFigureOut">
              <a:rPr lang="en-US" smtClean="0"/>
              <a:pPr/>
              <a:t>9/17/2026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7E15A7B-879F-45B5-9291-0F55AE53DB35}" type="slidenum">
              <a:rPr lang="en-US" smtClean="0"/>
              <a:pPr/>
              <a:t>‹#›</a:t>
            </a:fld>
            <a:endParaRPr lang="en-US"/>
          </a:p>
        </p:txBody>
      </p:sp>
    </p:spTree>
    <p:extLst>
      <p:ext uri="{BB962C8B-B14F-4D97-AF65-F5344CB8AC3E}">
        <p14:creationId xmlns:p14="http://schemas.microsoft.com/office/powerpoint/2010/main" val="239231463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5F44B48-72A2-4A15-9A9B-0DA2BF7C6B02}" type="datetimeFigureOut">
              <a:rPr lang="en-US" smtClean="0"/>
              <a:pPr/>
              <a:t>9/17/2026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D238FA3-189B-4AA8-9E46-1FED810FB611}" type="slidenum">
              <a:rPr lang="en-US" smtClean="0"/>
              <a:pPr/>
              <a:t>‹#›</a:t>
            </a:fld>
            <a:endParaRPr lang="en-US"/>
          </a:p>
        </p:txBody>
      </p:sp>
    </p:spTree>
    <p:extLst>
      <p:ext uri="{BB962C8B-B14F-4D97-AF65-F5344CB8AC3E}">
        <p14:creationId xmlns:p14="http://schemas.microsoft.com/office/powerpoint/2010/main" val="7986168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D238FA3-189B-4AA8-9E46-1FED810FB611}" type="slidenum">
              <a:rPr lang="en-US" smtClean="0"/>
              <a:pPr/>
              <a:t>1</a:t>
            </a:fld>
            <a:endParaRPr lang="en-US"/>
          </a:p>
        </p:txBody>
      </p:sp>
    </p:spTree>
    <p:extLst>
      <p:ext uri="{BB962C8B-B14F-4D97-AF65-F5344CB8AC3E}">
        <p14:creationId xmlns:p14="http://schemas.microsoft.com/office/powerpoint/2010/main" val="27477395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D238FA3-189B-4AA8-9E46-1FED810FB611}" type="slidenum">
              <a:rPr lang="en-US" smtClean="0"/>
              <a:pPr/>
              <a:t>10</a:t>
            </a:fld>
            <a:endParaRPr lang="en-US"/>
          </a:p>
        </p:txBody>
      </p:sp>
    </p:spTree>
    <p:extLst>
      <p:ext uri="{BB962C8B-B14F-4D97-AF65-F5344CB8AC3E}">
        <p14:creationId xmlns:p14="http://schemas.microsoft.com/office/powerpoint/2010/main" val="2015045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3BD94B3-44B9-44B7-85A7-F056FA607D46}" type="datetime3">
              <a:rPr lang="en-US" smtClean="0"/>
              <a:t>17 September 2026</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39697819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B7275DB-6D13-480B-AC77-F5019BDC5287}" type="datetime3">
              <a:rPr lang="en-US" smtClean="0"/>
              <a:t>17 September 2026</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3831486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B2A365F-315E-4D26-B736-3944439F5E09}" type="datetime3">
              <a:rPr lang="en-US" smtClean="0"/>
              <a:t>17 September 2026</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12440919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AB1E7AE-CF1A-4AE7-BD2C-F950D278A3DB}" type="datetime3">
              <a:rPr lang="en-US" smtClean="0"/>
              <a:t>17 September 2026</a:t>
            </a:fld>
            <a:endParaRPr lang="en-US"/>
          </a:p>
        </p:txBody>
      </p:sp>
      <p:sp>
        <p:nvSpPr>
          <p:cNvPr id="6" name="Footer Placeholder 5"/>
          <p:cNvSpPr>
            <a:spLocks noGrp="1"/>
          </p:cNvSpPr>
          <p:nvPr>
            <p:ph type="ftr" sz="quarter" idx="11"/>
          </p:nvPr>
        </p:nvSpPr>
        <p:spPr/>
        <p:txBody>
          <a:bodyPr/>
          <a:lstStyle/>
          <a:p>
            <a:r>
              <a:rPr lang="en-US"/>
              <a:t>School of Computing - CSE</a:t>
            </a:r>
          </a:p>
        </p:txBody>
      </p:sp>
      <p:sp>
        <p:nvSpPr>
          <p:cNvPr id="7" name="Slide Number Placeholder 6"/>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30179001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C6D51F8-804C-441D-85CA-D64DC6F78406}" type="datetime3">
              <a:rPr lang="en-US" smtClean="0"/>
              <a:t>17 September 2026</a:t>
            </a:fld>
            <a:endParaRPr lang="en-US"/>
          </a:p>
        </p:txBody>
      </p:sp>
      <p:sp>
        <p:nvSpPr>
          <p:cNvPr id="8" name="Footer Placeholder 7"/>
          <p:cNvSpPr>
            <a:spLocks noGrp="1"/>
          </p:cNvSpPr>
          <p:nvPr>
            <p:ph type="ftr" sz="quarter" idx="11"/>
          </p:nvPr>
        </p:nvSpPr>
        <p:spPr/>
        <p:txBody>
          <a:bodyPr/>
          <a:lstStyle/>
          <a:p>
            <a:r>
              <a:rPr lang="en-US"/>
              <a:t>School of Computing - CSE</a:t>
            </a:r>
          </a:p>
        </p:txBody>
      </p:sp>
      <p:sp>
        <p:nvSpPr>
          <p:cNvPr id="9" name="Slide Number Placeholder 8"/>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2403461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97CCCDB-4457-4C48-985F-BD1C33DF88D2}" type="datetime3">
              <a:rPr lang="en-US" smtClean="0"/>
              <a:t>17 September 2026</a:t>
            </a:fld>
            <a:endParaRPr lang="en-US"/>
          </a:p>
        </p:txBody>
      </p:sp>
      <p:sp>
        <p:nvSpPr>
          <p:cNvPr id="4" name="Footer Placeholder 3"/>
          <p:cNvSpPr>
            <a:spLocks noGrp="1"/>
          </p:cNvSpPr>
          <p:nvPr>
            <p:ph type="ftr" sz="quarter" idx="11"/>
          </p:nvPr>
        </p:nvSpPr>
        <p:spPr/>
        <p:txBody>
          <a:bodyPr/>
          <a:lstStyle/>
          <a:p>
            <a:r>
              <a:rPr lang="en-US"/>
              <a:t>School of Computing - CSE</a:t>
            </a:r>
          </a:p>
        </p:txBody>
      </p:sp>
      <p:sp>
        <p:nvSpPr>
          <p:cNvPr id="5" name="Slide Number Placeholder 4"/>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7880198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F4AF7E-7813-4879-8B55-5575B0080D39}" type="datetime3">
              <a:rPr lang="en-US" smtClean="0"/>
              <a:t>17 September 2026</a:t>
            </a:fld>
            <a:endParaRPr lang="en-US"/>
          </a:p>
        </p:txBody>
      </p:sp>
      <p:sp>
        <p:nvSpPr>
          <p:cNvPr id="3" name="Footer Placeholder 2"/>
          <p:cNvSpPr>
            <a:spLocks noGrp="1"/>
          </p:cNvSpPr>
          <p:nvPr>
            <p:ph type="ftr" sz="quarter" idx="11"/>
          </p:nvPr>
        </p:nvSpPr>
        <p:spPr/>
        <p:txBody>
          <a:bodyPr/>
          <a:lstStyle/>
          <a:p>
            <a:r>
              <a:rPr lang="en-US"/>
              <a:t>School of Computing - CSE</a:t>
            </a:r>
          </a:p>
        </p:txBody>
      </p:sp>
      <p:sp>
        <p:nvSpPr>
          <p:cNvPr id="4" name="Slide Number Placeholder 3"/>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33528835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9EC94D0-F97F-48E4-A142-9DA614267486}" type="datetime3">
              <a:rPr lang="en-US" smtClean="0"/>
              <a:t>17 September 2026</a:t>
            </a:fld>
            <a:endParaRPr lang="en-US"/>
          </a:p>
        </p:txBody>
      </p:sp>
      <p:sp>
        <p:nvSpPr>
          <p:cNvPr id="6" name="Footer Placeholder 5"/>
          <p:cNvSpPr>
            <a:spLocks noGrp="1"/>
          </p:cNvSpPr>
          <p:nvPr>
            <p:ph type="ftr" sz="quarter" idx="11"/>
          </p:nvPr>
        </p:nvSpPr>
        <p:spPr/>
        <p:txBody>
          <a:bodyPr/>
          <a:lstStyle/>
          <a:p>
            <a:r>
              <a:rPr lang="en-US"/>
              <a:t>School of Computing - CSE</a:t>
            </a:r>
          </a:p>
        </p:txBody>
      </p:sp>
      <p:sp>
        <p:nvSpPr>
          <p:cNvPr id="7" name="Slide Number Placeholder 6"/>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739281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57DA9B2-FBCA-4233-9590-C0754509BDB5}" type="datetime3">
              <a:rPr lang="en-US" smtClean="0"/>
              <a:t>17 September 2026</a:t>
            </a:fld>
            <a:endParaRPr lang="en-US"/>
          </a:p>
        </p:txBody>
      </p:sp>
      <p:sp>
        <p:nvSpPr>
          <p:cNvPr id="6" name="Footer Placeholder 5"/>
          <p:cNvSpPr>
            <a:spLocks noGrp="1"/>
          </p:cNvSpPr>
          <p:nvPr>
            <p:ph type="ftr" sz="quarter" idx="11"/>
          </p:nvPr>
        </p:nvSpPr>
        <p:spPr/>
        <p:txBody>
          <a:bodyPr/>
          <a:lstStyle/>
          <a:p>
            <a:r>
              <a:rPr lang="en-US"/>
              <a:t>School of Computing - CSE</a:t>
            </a:r>
          </a:p>
        </p:txBody>
      </p:sp>
      <p:sp>
        <p:nvSpPr>
          <p:cNvPr id="7" name="Slide Number Placeholder 6"/>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4522694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6B910C5-081D-4FA6-9B78-BB56BEB475DD}" type="datetime3">
              <a:rPr lang="en-US" smtClean="0"/>
              <a:t>17 September 2026</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0500423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18360AF-72BE-4445-B200-736511B20555}" type="datetime3">
              <a:rPr lang="en-US" smtClean="0"/>
              <a:t>17 September 2026</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10668611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525963"/>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noFill/>
          <a:ln>
            <a:noFill/>
          </a:ln>
          <a:effectLst>
            <a:outerShdw blurRad="50800" dist="50800" dir="5400000" algn="ctr" rotWithShape="0">
              <a:schemeClr val="bg1"/>
            </a:outerShdw>
          </a:effectLst>
        </p:spPr>
        <p:txBody>
          <a:bodyPr/>
          <a:lstStyle>
            <a:lvl1pPr>
              <a:defRPr>
                <a:solidFill>
                  <a:schemeClr val="accent6">
                    <a:lumMod val="50000"/>
                  </a:schemeClr>
                </a:solidFill>
              </a:defRPr>
            </a:lvl1pPr>
          </a:lstStyle>
          <a:p>
            <a:fld id="{10B6530B-5C68-4965-B8A9-8C18D26903BD}" type="datetime3">
              <a:rPr lang="en-US" smtClean="0"/>
              <a:t>17 September 2026</a:t>
            </a:fld>
            <a:endParaRPr lang="en-US" dirty="0"/>
          </a:p>
        </p:txBody>
      </p:sp>
      <p:sp>
        <p:nvSpPr>
          <p:cNvPr id="5" name="Footer Placeholder 4"/>
          <p:cNvSpPr>
            <a:spLocks noGrp="1"/>
          </p:cNvSpPr>
          <p:nvPr>
            <p:ph type="ftr" sz="quarter" idx="11"/>
          </p:nvPr>
        </p:nvSpPr>
        <p:spPr/>
        <p:txBody>
          <a:bodyPr/>
          <a:lstStyle>
            <a:lvl1pPr>
              <a:defRPr>
                <a:solidFill>
                  <a:schemeClr val="accent6">
                    <a:lumMod val="50000"/>
                  </a:schemeClr>
                </a:solidFill>
              </a:defRPr>
            </a:lvl1pPr>
          </a:lstStyle>
          <a:p>
            <a:r>
              <a:rPr lang="en-US"/>
              <a:t>School of Computing - CSE</a:t>
            </a:r>
            <a:endParaRPr lang="en-US" dirty="0"/>
          </a:p>
        </p:txBody>
      </p:sp>
      <p:sp>
        <p:nvSpPr>
          <p:cNvPr id="6" name="Slide Number Placeholder 5"/>
          <p:cNvSpPr>
            <a:spLocks noGrp="1"/>
          </p:cNvSpPr>
          <p:nvPr>
            <p:ph type="sldNum" sz="quarter" idx="12"/>
          </p:nvPr>
        </p:nvSpPr>
        <p:spPr/>
        <p:txBody>
          <a:bodyPr/>
          <a:lstStyle>
            <a:lvl1pPr>
              <a:defRPr>
                <a:solidFill>
                  <a:schemeClr val="accent6">
                    <a:lumMod val="50000"/>
                  </a:schemeClr>
                </a:solidFill>
              </a:defRPr>
            </a:lvl1pPr>
          </a:lstStyle>
          <a:p>
            <a:fld id="{C0EC1BDC-9B67-430D-970A-E36C75175141}"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98940" y="228600"/>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4D4881-3C1B-4E10-8E47-87CE42F43D14}" type="datetime3">
              <a:rPr lang="en-US" smtClean="0"/>
              <a:t>17 September 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School of Computing - CSE</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28076C-CE04-4A00-BFAA-A90EA8355859}" type="slidenum">
              <a:rPr lang="en-US" smtClean="0"/>
              <a:pPr/>
              <a:t>‹#›</a:t>
            </a:fld>
            <a:endParaRPr lang="en-US"/>
          </a:p>
        </p:txBody>
      </p:sp>
      <p:sp>
        <p:nvSpPr>
          <p:cNvPr id="8" name="Rectangle 7"/>
          <p:cNvSpPr/>
          <p:nvPr userDrawn="1"/>
        </p:nvSpPr>
        <p:spPr>
          <a:xfrm>
            <a:off x="298940" y="177143"/>
            <a:ext cx="8610600" cy="6553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 name="Straight Connector 8"/>
          <p:cNvCxnSpPr/>
          <p:nvPr userDrawn="1"/>
        </p:nvCxnSpPr>
        <p:spPr>
          <a:xfrm>
            <a:off x="298940" y="1219200"/>
            <a:ext cx="8610600" cy="1588"/>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231512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50" r:id="rId12"/>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hyperlink" Target="https://learn.microsoft.com/en-us/power-bi/?utm_source=chatgpt.com" TargetMode="External"/><Relationship Id="rId7" Type="http://schemas.openxmlformats.org/officeDocument/2006/relationships/hyperlink" Target="https://learn.microsoft.com/en-in/power-bi/guidance/?utm_source=chatgpt.com"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hyperlink" Target="https://learn.microsoft.com/en-us/dax/dax-function-reference?utm_source=chatgpt.com" TargetMode="External"/><Relationship Id="rId5" Type="http://schemas.openxmlformats.org/officeDocument/2006/relationships/hyperlink" Target="https://learn.microsoft.com/en-us/dax/dax-overview?utm_source=chatgpt.com" TargetMode="External"/><Relationship Id="rId4" Type="http://schemas.openxmlformats.org/officeDocument/2006/relationships/hyperlink" Target="https://learn.microsoft.com/en-us/power-query/power-query-what-is-power-query?utm_source=chatgpt.com"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p:cNvSpPr>
            <a:spLocks noGrp="1"/>
          </p:cNvSpPr>
          <p:nvPr>
            <p:ph type="ctrTitle"/>
          </p:nvPr>
        </p:nvSpPr>
        <p:spPr>
          <a:xfrm>
            <a:off x="571500" y="449944"/>
            <a:ext cx="7772400" cy="3505199"/>
          </a:xfrm>
        </p:spPr>
        <p:txBody>
          <a:bodyPr>
            <a:normAutofit/>
          </a:bodyPr>
          <a:lstStyle/>
          <a:p>
            <a:r>
              <a:rPr lang="en-IN" sz="2000" dirty="0">
                <a:solidFill>
                  <a:schemeClr val="accent1">
                    <a:lumMod val="50000"/>
                  </a:schemeClr>
                </a:solidFill>
                <a:latin typeface="Arial" pitchFamily="34" charset="0"/>
                <a:cs typeface="Arial" pitchFamily="34" charset="0"/>
              </a:rPr>
              <a:t/>
            </a:r>
            <a:br>
              <a:rPr lang="en-IN" sz="2000" dirty="0">
                <a:solidFill>
                  <a:schemeClr val="accent1">
                    <a:lumMod val="50000"/>
                  </a:schemeClr>
                </a:solidFill>
                <a:latin typeface="Arial" pitchFamily="34" charset="0"/>
                <a:cs typeface="Arial" pitchFamily="34" charset="0"/>
              </a:rPr>
            </a:br>
            <a:r>
              <a:rPr lang="en-IN" sz="2400" dirty="0">
                <a:solidFill>
                  <a:schemeClr val="accent1">
                    <a:lumMod val="50000"/>
                  </a:schemeClr>
                </a:solidFill>
                <a:latin typeface="Arial" pitchFamily="34" charset="0"/>
                <a:cs typeface="Arial" pitchFamily="34" charset="0"/>
              </a:rPr>
              <a:t/>
            </a:r>
            <a:br>
              <a:rPr lang="en-IN" sz="2400" dirty="0">
                <a:solidFill>
                  <a:schemeClr val="accent1">
                    <a:lumMod val="50000"/>
                  </a:schemeClr>
                </a:solidFill>
                <a:latin typeface="Arial" pitchFamily="34" charset="0"/>
                <a:cs typeface="Arial" pitchFamily="34" charset="0"/>
              </a:rPr>
            </a:br>
            <a:endParaRPr lang="en-US" sz="2400" dirty="0">
              <a:solidFill>
                <a:schemeClr val="accent1">
                  <a:lumMod val="50000"/>
                </a:schemeClr>
              </a:solidFill>
              <a:latin typeface="Arial" pitchFamily="34" charset="0"/>
              <a:cs typeface="Arial" pitchFamily="34" charset="0"/>
            </a:endParaRPr>
          </a:p>
        </p:txBody>
      </p:sp>
      <p:sp>
        <p:nvSpPr>
          <p:cNvPr id="17" name="Subtitle 2"/>
          <p:cNvSpPr>
            <a:spLocks noGrp="1"/>
          </p:cNvSpPr>
          <p:nvPr>
            <p:ph type="subTitle" idx="1"/>
          </p:nvPr>
        </p:nvSpPr>
        <p:spPr>
          <a:xfrm>
            <a:off x="1293627" y="3512438"/>
            <a:ext cx="6709143" cy="885409"/>
          </a:xfrm>
        </p:spPr>
        <p:txBody>
          <a:bodyPr>
            <a:normAutofit/>
          </a:bodyPr>
          <a:lstStyle/>
          <a:p>
            <a:r>
              <a:rPr lang="en-US" sz="2000" dirty="0">
                <a:solidFill>
                  <a:schemeClr val="tx1"/>
                </a:solidFill>
                <a:latin typeface="Arial" pitchFamily="34" charset="0"/>
                <a:cs typeface="Arial" pitchFamily="34" charset="0"/>
              </a:rPr>
              <a:t>IT Helpdesk &amp; Ticket Resolution Dashboard</a:t>
            </a:r>
            <a:endParaRPr lang="en-US" sz="2000" dirty="0">
              <a:solidFill>
                <a:schemeClr val="tx1"/>
              </a:solidFill>
              <a:latin typeface="Arial" pitchFamily="34" charset="0"/>
              <a:cs typeface="Arial" pitchFamily="34" charset="0"/>
            </a:endParaRPr>
          </a:p>
        </p:txBody>
      </p:sp>
      <p:sp>
        <p:nvSpPr>
          <p:cNvPr id="4" name="Date Placeholder 3"/>
          <p:cNvSpPr>
            <a:spLocks noGrp="1"/>
          </p:cNvSpPr>
          <p:nvPr>
            <p:ph type="dt" sz="half" idx="10"/>
          </p:nvPr>
        </p:nvSpPr>
        <p:spPr>
          <a:effectLst>
            <a:outerShdw blurRad="50800" dist="50800" dir="5400000" algn="ctr" rotWithShape="0">
              <a:schemeClr val="bg1"/>
            </a:outerShdw>
          </a:effectLst>
        </p:spPr>
        <p:txBody>
          <a:bodyPr/>
          <a:lstStyle/>
          <a:p>
            <a:fld id="{264FFBAA-9A17-4F9A-B1BD-20F0F5B52AB6}" type="datetime3">
              <a:rPr lang="en-US" smtClean="0"/>
              <a:t>17 September 2026</a:t>
            </a:fld>
            <a:endParaRPr lang="en-US" dirty="0"/>
          </a:p>
        </p:txBody>
      </p:sp>
      <p:sp>
        <p:nvSpPr>
          <p:cNvPr id="6" name="Footer Placeholder 5"/>
          <p:cNvSpPr>
            <a:spLocks noGrp="1"/>
          </p:cNvSpPr>
          <p:nvPr>
            <p:ph type="ftr" sz="quarter" idx="11"/>
          </p:nvPr>
        </p:nvSpPr>
        <p:spPr/>
        <p:txBody>
          <a:bodyPr/>
          <a:lstStyle/>
          <a:p>
            <a:r>
              <a:rPr lang="en-US" dirty="0"/>
              <a:t>School of Computing - CSE</a:t>
            </a:r>
          </a:p>
        </p:txBody>
      </p:sp>
      <p:sp>
        <p:nvSpPr>
          <p:cNvPr id="5" name="Slide Number Placeholder 4"/>
          <p:cNvSpPr>
            <a:spLocks noGrp="1"/>
          </p:cNvSpPr>
          <p:nvPr>
            <p:ph type="sldNum" sz="quarter" idx="12"/>
          </p:nvPr>
        </p:nvSpPr>
        <p:spPr/>
        <p:txBody>
          <a:bodyPr/>
          <a:lstStyle/>
          <a:p>
            <a:fld id="{C0EC1BDC-9B67-430D-970A-E36C75175141}" type="slidenum">
              <a:rPr lang="en-US" smtClean="0"/>
              <a:pPr/>
              <a:t>1</a:t>
            </a:fld>
            <a:endParaRPr lang="en-US"/>
          </a:p>
        </p:txBody>
      </p:sp>
      <p:sp>
        <p:nvSpPr>
          <p:cNvPr id="14" name="TextBox 13">
            <a:extLst>
              <a:ext uri="{FF2B5EF4-FFF2-40B4-BE49-F238E27FC236}">
                <a16:creationId xmlns:a16="http://schemas.microsoft.com/office/drawing/2014/main" xmlns="" id="{41C8031F-DC64-6DA7-5E1D-856D8119A1D3}"/>
              </a:ext>
            </a:extLst>
          </p:cNvPr>
          <p:cNvSpPr txBox="1"/>
          <p:nvPr/>
        </p:nvSpPr>
        <p:spPr>
          <a:xfrm>
            <a:off x="342898" y="2245640"/>
            <a:ext cx="8610599" cy="1292662"/>
          </a:xfrm>
          <a:prstGeom prst="rect">
            <a:avLst/>
          </a:prstGeom>
          <a:noFill/>
        </p:spPr>
        <p:txBody>
          <a:bodyPr wrap="square">
            <a:spAutoFit/>
          </a:bodyPr>
          <a:lstStyle/>
          <a:p>
            <a:pPr algn="ctr"/>
            <a:endParaRPr lang="en-IN" sz="2000" b="1" dirty="0">
              <a:latin typeface="Arial" panose="020B0604020202020204" pitchFamily="34" charset="0"/>
              <a:cs typeface="Arial" panose="020B0604020202020204" pitchFamily="34" charset="0"/>
            </a:endParaRPr>
          </a:p>
          <a:p>
            <a:pPr algn="ctr"/>
            <a:r>
              <a:rPr lang="en-IN" sz="2000" b="1" dirty="0">
                <a:latin typeface="Arial" panose="020B0604020202020204" pitchFamily="34" charset="0"/>
                <a:cs typeface="Arial" panose="020B0604020202020204" pitchFamily="34" charset="0"/>
              </a:rPr>
              <a:t>DEPARTMENT OF COMPUTER SCIENCE AND ENGINEERING</a:t>
            </a:r>
          </a:p>
          <a:p>
            <a:pPr algn="ctr"/>
            <a:endParaRPr lang="en-IN" sz="2000" b="1" dirty="0">
              <a:latin typeface="Arial" panose="020B0604020202020204" pitchFamily="34" charset="0"/>
              <a:cs typeface="Arial" panose="020B0604020202020204" pitchFamily="34" charset="0"/>
            </a:endParaRPr>
          </a:p>
          <a:p>
            <a:pPr algn="ctr"/>
            <a:r>
              <a:rPr lang="en-US" b="1" dirty="0"/>
              <a:t>Professional Training I</a:t>
            </a:r>
          </a:p>
        </p:txBody>
      </p:sp>
      <p:sp>
        <p:nvSpPr>
          <p:cNvPr id="29" name="Subtitle 2">
            <a:extLst>
              <a:ext uri="{FF2B5EF4-FFF2-40B4-BE49-F238E27FC236}">
                <a16:creationId xmlns:a16="http://schemas.microsoft.com/office/drawing/2014/main" xmlns="" id="{431E86DB-7CEA-B3DC-1DF2-33457A550B1A}"/>
              </a:ext>
            </a:extLst>
          </p:cNvPr>
          <p:cNvSpPr txBox="1">
            <a:spLocks/>
          </p:cNvSpPr>
          <p:nvPr/>
        </p:nvSpPr>
        <p:spPr>
          <a:xfrm>
            <a:off x="457201" y="4901085"/>
            <a:ext cx="3505200" cy="1455266"/>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en-US" sz="2400" b="1" dirty="0">
                <a:solidFill>
                  <a:schemeClr val="tx1"/>
                </a:solidFill>
              </a:rPr>
              <a:t>PROJECT </a:t>
            </a:r>
            <a:r>
              <a:rPr lang="en-US" sz="2400" b="1" dirty="0" smtClean="0">
                <a:solidFill>
                  <a:schemeClr val="tx1"/>
                </a:solidFill>
              </a:rPr>
              <a:t>STUDENT</a:t>
            </a:r>
          </a:p>
          <a:p>
            <a:pPr algn="l"/>
            <a:r>
              <a:rPr lang="en-US" sz="1600" dirty="0" smtClean="0">
                <a:solidFill>
                  <a:schemeClr val="tx1"/>
                </a:solidFill>
              </a:rPr>
              <a:t>Syed </a:t>
            </a:r>
            <a:r>
              <a:rPr lang="en-US" sz="1600" smtClean="0">
                <a:solidFill>
                  <a:schemeClr val="tx1"/>
                </a:solidFill>
              </a:rPr>
              <a:t>Ibrahim.A</a:t>
            </a:r>
            <a:endParaRPr lang="en-US" sz="1600" dirty="0" smtClean="0">
              <a:solidFill>
                <a:schemeClr val="tx1"/>
              </a:solidFill>
            </a:endParaRPr>
          </a:p>
          <a:p>
            <a:pPr algn="l"/>
            <a:r>
              <a:rPr lang="en-US" sz="1600" dirty="0" smtClean="0">
                <a:solidFill>
                  <a:schemeClr val="tx1"/>
                </a:solidFill>
              </a:rPr>
              <a:t>44111022</a:t>
            </a:r>
            <a:endParaRPr lang="en-GB" sz="1600" dirty="0">
              <a:solidFill>
                <a:schemeClr val="tx1"/>
              </a:solidFill>
            </a:endParaRP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6352" y="319093"/>
            <a:ext cx="8496301" cy="2043107"/>
          </a:xfrm>
          <a:prstGeom prst="rect">
            <a:avLst/>
          </a:prstGeom>
        </p:spPr>
      </p:pic>
      <p:sp>
        <p:nvSpPr>
          <p:cNvPr id="2" name="TextBox 1"/>
          <p:cNvSpPr txBox="1"/>
          <p:nvPr/>
        </p:nvSpPr>
        <p:spPr>
          <a:xfrm>
            <a:off x="5022332" y="4832407"/>
            <a:ext cx="3061736" cy="984885"/>
          </a:xfrm>
          <a:prstGeom prst="rect">
            <a:avLst/>
          </a:prstGeom>
          <a:noFill/>
        </p:spPr>
        <p:txBody>
          <a:bodyPr wrap="none" rtlCol="0">
            <a:spAutoFit/>
          </a:bodyPr>
          <a:lstStyle/>
          <a:p>
            <a:r>
              <a:rPr lang="en-US" sz="2400" b="1" dirty="0" smtClean="0"/>
              <a:t>GUIDE</a:t>
            </a:r>
          </a:p>
          <a:p>
            <a:r>
              <a:rPr lang="en-US" sz="1600" dirty="0" err="1"/>
              <a:t>Mr</a:t>
            </a:r>
            <a:r>
              <a:rPr lang="en-US" sz="1600" dirty="0"/>
              <a:t> Mohammed </a:t>
            </a:r>
            <a:r>
              <a:rPr lang="en-US" sz="1600" dirty="0" err="1"/>
              <a:t>Haseeb</a:t>
            </a:r>
            <a:r>
              <a:rPr lang="en-US" sz="1600" dirty="0"/>
              <a:t> </a:t>
            </a:r>
            <a:r>
              <a:rPr lang="en-US" sz="1600" dirty="0" err="1"/>
              <a:t>Rakshan</a:t>
            </a:r>
            <a:r>
              <a:rPr lang="en-US" sz="1600" dirty="0"/>
              <a:t> P</a:t>
            </a:r>
            <a:endParaRPr lang="en-US" sz="1600" dirty="0" smtClean="0"/>
          </a:p>
          <a:p>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AGENDA</a:t>
            </a:r>
          </a:p>
        </p:txBody>
      </p:sp>
      <p:sp>
        <p:nvSpPr>
          <p:cNvPr id="3" name="Content Placeholder 2"/>
          <p:cNvSpPr>
            <a:spLocks noGrp="1"/>
          </p:cNvSpPr>
          <p:nvPr>
            <p:ph idx="1"/>
          </p:nvPr>
        </p:nvSpPr>
        <p:spPr>
          <a:xfrm>
            <a:off x="457200" y="1600993"/>
            <a:ext cx="8229600" cy="4525963"/>
          </a:xfrm>
        </p:spPr>
        <p:txBody>
          <a:bodyPr>
            <a:normAutofit fontScale="92500" lnSpcReduction="20000"/>
          </a:bodyPr>
          <a:lstStyle/>
          <a:p>
            <a:pPr marL="0" indent="0">
              <a:buNone/>
            </a:pPr>
            <a:endParaRPr lang="en-US" dirty="0"/>
          </a:p>
          <a:p>
            <a:r>
              <a:rPr lang="en-US" dirty="0"/>
              <a:t>Abstract</a:t>
            </a:r>
          </a:p>
          <a:p>
            <a:r>
              <a:rPr lang="en-US" dirty="0"/>
              <a:t>Introduction</a:t>
            </a:r>
          </a:p>
          <a:p>
            <a:r>
              <a:rPr lang="en-US" dirty="0"/>
              <a:t>Objective</a:t>
            </a:r>
          </a:p>
          <a:p>
            <a:r>
              <a:rPr lang="en-US" dirty="0"/>
              <a:t>System Architecture / Ideation Map</a:t>
            </a:r>
          </a:p>
          <a:p>
            <a:r>
              <a:rPr lang="en-US" dirty="0"/>
              <a:t>Module Implementation</a:t>
            </a:r>
          </a:p>
          <a:p>
            <a:r>
              <a:rPr lang="en-US" dirty="0"/>
              <a:t>Results and Discussions</a:t>
            </a:r>
          </a:p>
          <a:p>
            <a:r>
              <a:rPr lang="en-US" dirty="0"/>
              <a:t>Conclusion</a:t>
            </a:r>
          </a:p>
          <a:p>
            <a:r>
              <a:rPr lang="en-US" dirty="0"/>
              <a:t>References</a:t>
            </a:r>
          </a:p>
          <a:p>
            <a:endParaRPr lang="en-US" dirty="0"/>
          </a:p>
          <a:p>
            <a:endParaRPr lang="en-US" dirty="0"/>
          </a:p>
          <a:p>
            <a:endParaRPr lang="en-US" dirty="0"/>
          </a:p>
        </p:txBody>
      </p:sp>
      <p:sp>
        <p:nvSpPr>
          <p:cNvPr id="4" name="Date Placeholder 3"/>
          <p:cNvSpPr>
            <a:spLocks noGrp="1"/>
          </p:cNvSpPr>
          <p:nvPr>
            <p:ph type="dt" sz="half" idx="10"/>
          </p:nvPr>
        </p:nvSpPr>
        <p:spPr/>
        <p:txBody>
          <a:bodyPr/>
          <a:lstStyle/>
          <a:p>
            <a:fld id="{EB7275DB-6D13-480B-AC77-F5019BDC5287}" type="datetime3">
              <a:rPr lang="en-US" smtClean="0"/>
              <a:t>17 September 2026</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2</a:t>
            </a:fld>
            <a:endParaRPr lang="en-US"/>
          </a:p>
        </p:txBody>
      </p:sp>
    </p:spTree>
    <p:extLst>
      <p:ext uri="{BB962C8B-B14F-4D97-AF65-F5344CB8AC3E}">
        <p14:creationId xmlns:p14="http://schemas.microsoft.com/office/powerpoint/2010/main" val="34408998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F4AF7E-7813-4879-8B55-5575B0080D39}" type="datetime3">
              <a:rPr lang="en-US" smtClean="0"/>
              <a:t>17 September 2026</a:t>
            </a:fld>
            <a:endParaRPr lang="en-US"/>
          </a:p>
        </p:txBody>
      </p:sp>
      <p:sp>
        <p:nvSpPr>
          <p:cNvPr id="3" name="Footer Placeholder 2"/>
          <p:cNvSpPr>
            <a:spLocks noGrp="1"/>
          </p:cNvSpPr>
          <p:nvPr>
            <p:ph type="ftr" sz="quarter" idx="11"/>
          </p:nvPr>
        </p:nvSpPr>
        <p:spPr/>
        <p:txBody>
          <a:bodyPr/>
          <a:lstStyle/>
          <a:p>
            <a:r>
              <a:rPr lang="en-US" smtClean="0"/>
              <a:t>School of Computing - CSE</a:t>
            </a:r>
            <a:endParaRPr lang="en-US"/>
          </a:p>
        </p:txBody>
      </p:sp>
      <p:sp>
        <p:nvSpPr>
          <p:cNvPr id="4" name="Slide Number Placeholder 3"/>
          <p:cNvSpPr>
            <a:spLocks noGrp="1"/>
          </p:cNvSpPr>
          <p:nvPr>
            <p:ph type="sldNum" sz="quarter" idx="12"/>
          </p:nvPr>
        </p:nvSpPr>
        <p:spPr/>
        <p:txBody>
          <a:bodyPr/>
          <a:lstStyle/>
          <a:p>
            <a:fld id="{7B28076C-CE04-4A00-BFAA-A90EA8355859}" type="slidenum">
              <a:rPr lang="en-US" smtClean="0"/>
              <a:pPr/>
              <a:t>3</a:t>
            </a:fld>
            <a:endParaRPr lang="en-US"/>
          </a:p>
        </p:txBody>
      </p:sp>
      <p:sp>
        <p:nvSpPr>
          <p:cNvPr id="5" name="Rectangle 4"/>
          <p:cNvSpPr/>
          <p:nvPr/>
        </p:nvSpPr>
        <p:spPr>
          <a:xfrm>
            <a:off x="609600" y="1447800"/>
            <a:ext cx="7924800" cy="4339650"/>
          </a:xfrm>
          <a:prstGeom prst="rect">
            <a:avLst/>
          </a:prstGeom>
        </p:spPr>
        <p:txBody>
          <a:bodyPr wrap="square">
            <a:spAutoFit/>
          </a:bodyPr>
          <a:lstStyle/>
          <a:p>
            <a:endParaRPr lang="en-IN" dirty="0" smtClean="0"/>
          </a:p>
          <a:p>
            <a:endParaRPr lang="en-IN" dirty="0"/>
          </a:p>
          <a:p>
            <a:pPr algn="just"/>
            <a:r>
              <a:rPr lang="en-IN" sz="2000" b="1" dirty="0" smtClean="0"/>
              <a:t>This </a:t>
            </a:r>
            <a:r>
              <a:rPr lang="en-IN" sz="2000" b="1" dirty="0"/>
              <a:t>project delivers an interactive IT Helpdesk &amp; Ticket Resolution Dashboard created in Microsoft Power BI to transform raw support ticket data into actionable operational insights. By centralizing key performance metrics, the dashboard offers a comprehensive view of total ticket volumes, categorizations, priority distributions, and resolution statuses across the organization. It evaluates technician workloads, resolution speeds, and Service Level Agreement (SLA) compliance rates to pinpoint operational bottlenecks, delays, and capacity imbalances. Designed for strategic decision-making, this business intelligence solution equips management with clear visual reports to streamline support workflows, optimize resource allocation, and enhance overall IT service efficiency</a:t>
            </a:r>
            <a:r>
              <a:rPr lang="en-IN" dirty="0"/>
              <a:t>.</a:t>
            </a:r>
          </a:p>
        </p:txBody>
      </p:sp>
      <p:sp>
        <p:nvSpPr>
          <p:cNvPr id="6" name="TextBox 5"/>
          <p:cNvSpPr txBox="1"/>
          <p:nvPr/>
        </p:nvSpPr>
        <p:spPr>
          <a:xfrm>
            <a:off x="3352800" y="304800"/>
            <a:ext cx="3657600" cy="707886"/>
          </a:xfrm>
          <a:prstGeom prst="rect">
            <a:avLst/>
          </a:prstGeom>
          <a:noFill/>
        </p:spPr>
        <p:txBody>
          <a:bodyPr wrap="square" rtlCol="0">
            <a:spAutoFit/>
          </a:bodyPr>
          <a:lstStyle/>
          <a:p>
            <a:r>
              <a:rPr lang="en-US" sz="4000" b="1" dirty="0" smtClean="0"/>
              <a:t>ABSTRACT</a:t>
            </a:r>
            <a:endParaRPr lang="en-IN" sz="4000" b="1" dirty="0"/>
          </a:p>
        </p:txBody>
      </p:sp>
    </p:spTree>
    <p:extLst>
      <p:ext uri="{BB962C8B-B14F-4D97-AF65-F5344CB8AC3E}">
        <p14:creationId xmlns:p14="http://schemas.microsoft.com/office/powerpoint/2010/main" val="10514089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F4AF7E-7813-4879-8B55-5575B0080D39}" type="datetime3">
              <a:rPr lang="en-US" smtClean="0"/>
              <a:t>17 September 2026</a:t>
            </a:fld>
            <a:endParaRPr lang="en-US"/>
          </a:p>
        </p:txBody>
      </p:sp>
      <p:sp>
        <p:nvSpPr>
          <p:cNvPr id="3" name="Footer Placeholder 2"/>
          <p:cNvSpPr>
            <a:spLocks noGrp="1"/>
          </p:cNvSpPr>
          <p:nvPr>
            <p:ph type="ftr" sz="quarter" idx="11"/>
          </p:nvPr>
        </p:nvSpPr>
        <p:spPr/>
        <p:txBody>
          <a:bodyPr/>
          <a:lstStyle/>
          <a:p>
            <a:r>
              <a:rPr lang="en-US" smtClean="0"/>
              <a:t>School of Computing - CSE</a:t>
            </a:r>
            <a:endParaRPr lang="en-US"/>
          </a:p>
        </p:txBody>
      </p:sp>
      <p:sp>
        <p:nvSpPr>
          <p:cNvPr id="4" name="Slide Number Placeholder 3"/>
          <p:cNvSpPr>
            <a:spLocks noGrp="1"/>
          </p:cNvSpPr>
          <p:nvPr>
            <p:ph type="sldNum" sz="quarter" idx="12"/>
          </p:nvPr>
        </p:nvSpPr>
        <p:spPr/>
        <p:txBody>
          <a:bodyPr/>
          <a:lstStyle/>
          <a:p>
            <a:fld id="{7B28076C-CE04-4A00-BFAA-A90EA8355859}" type="slidenum">
              <a:rPr lang="en-US" smtClean="0"/>
              <a:pPr/>
              <a:t>4</a:t>
            </a:fld>
            <a:endParaRPr lang="en-US"/>
          </a:p>
        </p:txBody>
      </p:sp>
      <p:sp>
        <p:nvSpPr>
          <p:cNvPr id="6" name="TextBox 5"/>
          <p:cNvSpPr txBox="1"/>
          <p:nvPr/>
        </p:nvSpPr>
        <p:spPr>
          <a:xfrm>
            <a:off x="3276600" y="434618"/>
            <a:ext cx="3218510" cy="646331"/>
          </a:xfrm>
          <a:prstGeom prst="rect">
            <a:avLst/>
          </a:prstGeom>
          <a:noFill/>
        </p:spPr>
        <p:txBody>
          <a:bodyPr wrap="none" rtlCol="0">
            <a:spAutoFit/>
          </a:bodyPr>
          <a:lstStyle/>
          <a:p>
            <a:r>
              <a:rPr lang="en-US" sz="3600" b="1" dirty="0" smtClean="0"/>
              <a:t>INTRODUCTION</a:t>
            </a:r>
            <a:endParaRPr lang="en-IN" sz="3600" b="1" dirty="0"/>
          </a:p>
        </p:txBody>
      </p:sp>
      <p:sp>
        <p:nvSpPr>
          <p:cNvPr id="9" name="Rectangle 4"/>
          <p:cNvSpPr>
            <a:spLocks noChangeArrowheads="1"/>
          </p:cNvSpPr>
          <p:nvPr/>
        </p:nvSpPr>
        <p:spPr bwMode="auto">
          <a:xfrm>
            <a:off x="712610" y="1524000"/>
            <a:ext cx="7718780" cy="4062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1" i="0" u="none" strike="noStrike" cap="none" normalizeH="0" baseline="0" dirty="0" smtClean="0">
                <a:ln>
                  <a:noFill/>
                </a:ln>
                <a:solidFill>
                  <a:schemeClr val="tx1"/>
                </a:solidFill>
                <a:effectLst/>
                <a:latin typeface="Arial" panose="020B0604020202020204" pitchFamily="34" charset="0"/>
              </a:rPr>
              <a:t>Manual analysis makes performance monitoring difficult.</a:t>
            </a:r>
          </a:p>
          <a:p>
            <a:pPr marL="0" marR="0" lvl="0" indent="0" algn="l" defTabSz="914400" rtl="0" eaLnBrk="0" fontAlgn="base" latinLnBrk="0" hangingPunct="0">
              <a:lnSpc>
                <a:spcPct val="100000"/>
              </a:lnSpc>
              <a:spcBef>
                <a:spcPct val="0"/>
              </a:spcBef>
              <a:spcAft>
                <a:spcPct val="0"/>
              </a:spcAft>
              <a:buClrTx/>
              <a:buSzTx/>
              <a:tabLst/>
            </a:pPr>
            <a:endParaRPr kumimoji="0" lang="en-US" sz="20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1" i="0" u="none" strike="noStrike" cap="none" normalizeH="0" baseline="0" dirty="0" smtClean="0">
                <a:ln>
                  <a:noFill/>
                </a:ln>
                <a:solidFill>
                  <a:schemeClr val="tx1"/>
                </a:solidFill>
                <a:effectLst/>
                <a:latin typeface="Arial" panose="020B0604020202020204" pitchFamily="34" charset="0"/>
              </a:rPr>
              <a:t>Power BI provides interactive and centralized visualization.</a:t>
            </a:r>
          </a:p>
          <a:p>
            <a:pPr marL="0" marR="0" lvl="0" indent="0" algn="l" defTabSz="914400" rtl="0" eaLnBrk="0" fontAlgn="base" latinLnBrk="0" hangingPunct="0">
              <a:lnSpc>
                <a:spcPct val="100000"/>
              </a:lnSpc>
              <a:spcBef>
                <a:spcPct val="0"/>
              </a:spcBef>
              <a:spcAft>
                <a:spcPct val="0"/>
              </a:spcAft>
              <a:buClrTx/>
              <a:buSzTx/>
              <a:tabLst/>
            </a:pPr>
            <a:endParaRPr kumimoji="0" lang="en-US" sz="20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1" i="0" u="none" strike="noStrike" cap="none" normalizeH="0" baseline="0" dirty="0" smtClean="0">
                <a:ln>
                  <a:noFill/>
                </a:ln>
                <a:solidFill>
                  <a:schemeClr val="tx1"/>
                </a:solidFill>
                <a:effectLst/>
                <a:latin typeface="Arial" panose="020B0604020202020204" pitchFamily="34" charset="0"/>
              </a:rPr>
              <a:t>It centralizes helpdesk data for easy analysis.</a:t>
            </a:r>
          </a:p>
          <a:p>
            <a:pPr marL="0" marR="0" lvl="0" indent="0" algn="l" defTabSz="914400" rtl="0" eaLnBrk="0" fontAlgn="base" latinLnBrk="0" hangingPunct="0">
              <a:lnSpc>
                <a:spcPct val="100000"/>
              </a:lnSpc>
              <a:spcBef>
                <a:spcPct val="0"/>
              </a:spcBef>
              <a:spcAft>
                <a:spcPct val="0"/>
              </a:spcAft>
              <a:buClrTx/>
              <a:buSzTx/>
              <a:tabLst/>
            </a:pPr>
            <a:endParaRPr kumimoji="0" lang="en-US" sz="20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1" i="0" u="none" strike="noStrike" cap="none" normalizeH="0" baseline="0" dirty="0" smtClean="0">
                <a:ln>
                  <a:noFill/>
                </a:ln>
                <a:solidFill>
                  <a:schemeClr val="tx1"/>
                </a:solidFill>
                <a:effectLst/>
                <a:latin typeface="Arial" panose="020B0604020202020204" pitchFamily="34" charset="0"/>
              </a:rPr>
              <a:t>It provides quick insights into ticket trends and performance.</a:t>
            </a:r>
          </a:p>
          <a:p>
            <a:pPr marL="0" marR="0" lvl="0" indent="0" algn="l" defTabSz="914400" rtl="0" eaLnBrk="0" fontAlgn="base" latinLnBrk="0" hangingPunct="0">
              <a:lnSpc>
                <a:spcPct val="100000"/>
              </a:lnSpc>
              <a:spcBef>
                <a:spcPct val="0"/>
              </a:spcBef>
              <a:spcAft>
                <a:spcPct val="0"/>
              </a:spcAft>
              <a:buClrTx/>
              <a:buSzTx/>
              <a:tabLst/>
            </a:pPr>
            <a:endParaRPr kumimoji="0" lang="en-US" sz="20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1" i="0" u="none" strike="noStrike" cap="none" normalizeH="0" baseline="0" dirty="0" smtClean="0">
                <a:ln>
                  <a:noFill/>
                </a:ln>
                <a:solidFill>
                  <a:schemeClr val="tx1"/>
                </a:solidFill>
                <a:effectLst/>
                <a:latin typeface="Arial" panose="020B0604020202020204" pitchFamily="34" charset="0"/>
              </a:rPr>
              <a:t>It helps identify delays and areas requiring improvement.</a:t>
            </a:r>
          </a:p>
          <a:p>
            <a:pPr marL="0" marR="0" lvl="0" indent="0" algn="l" defTabSz="914400" rtl="0" eaLnBrk="0" fontAlgn="base" latinLnBrk="0" hangingPunct="0">
              <a:lnSpc>
                <a:spcPct val="100000"/>
              </a:lnSpc>
              <a:spcBef>
                <a:spcPct val="0"/>
              </a:spcBef>
              <a:spcAft>
                <a:spcPct val="0"/>
              </a:spcAft>
              <a:buClrTx/>
              <a:buSzTx/>
              <a:tabLst/>
            </a:pPr>
            <a:endParaRPr kumimoji="0" lang="en-US" sz="20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1" i="0" u="none" strike="noStrike" cap="none" normalizeH="0" baseline="0" dirty="0" smtClean="0">
                <a:ln>
                  <a:noFill/>
                </a:ln>
                <a:solidFill>
                  <a:schemeClr val="tx1"/>
                </a:solidFill>
                <a:effectLst/>
                <a:latin typeface="Arial" panose="020B0604020202020204" pitchFamily="34" charset="0"/>
              </a:rPr>
              <a:t>It enables data-driven monitoring of IT support operations.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182753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F4AF7E-7813-4879-8B55-5575B0080D39}" type="datetime3">
              <a:rPr lang="en-US" smtClean="0"/>
              <a:t>17 September 2026</a:t>
            </a:fld>
            <a:endParaRPr lang="en-US"/>
          </a:p>
        </p:txBody>
      </p:sp>
      <p:sp>
        <p:nvSpPr>
          <p:cNvPr id="3" name="Footer Placeholder 2"/>
          <p:cNvSpPr>
            <a:spLocks noGrp="1"/>
          </p:cNvSpPr>
          <p:nvPr>
            <p:ph type="ftr" sz="quarter" idx="11"/>
          </p:nvPr>
        </p:nvSpPr>
        <p:spPr/>
        <p:txBody>
          <a:bodyPr/>
          <a:lstStyle/>
          <a:p>
            <a:r>
              <a:rPr lang="en-US" smtClean="0"/>
              <a:t>School of Computing - CSE</a:t>
            </a:r>
            <a:endParaRPr lang="en-US"/>
          </a:p>
        </p:txBody>
      </p:sp>
      <p:sp>
        <p:nvSpPr>
          <p:cNvPr id="4" name="Slide Number Placeholder 3"/>
          <p:cNvSpPr>
            <a:spLocks noGrp="1"/>
          </p:cNvSpPr>
          <p:nvPr>
            <p:ph type="sldNum" sz="quarter" idx="12"/>
          </p:nvPr>
        </p:nvSpPr>
        <p:spPr/>
        <p:txBody>
          <a:bodyPr/>
          <a:lstStyle/>
          <a:p>
            <a:fld id="{7B28076C-CE04-4A00-BFAA-A90EA8355859}" type="slidenum">
              <a:rPr lang="en-US" smtClean="0"/>
              <a:pPr/>
              <a:t>5</a:t>
            </a:fld>
            <a:endParaRPr lang="en-US"/>
          </a:p>
        </p:txBody>
      </p:sp>
      <p:sp>
        <p:nvSpPr>
          <p:cNvPr id="5" name="Rectangle 1"/>
          <p:cNvSpPr>
            <a:spLocks noChangeArrowheads="1"/>
          </p:cNvSpPr>
          <p:nvPr/>
        </p:nvSpPr>
        <p:spPr bwMode="auto">
          <a:xfrm>
            <a:off x="1143000" y="1296146"/>
            <a:ext cx="7391400" cy="43704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1" i="0" u="none" strike="noStrike" cap="none" normalizeH="0" baseline="0" dirty="0" smtClean="0">
                <a:ln>
                  <a:noFill/>
                </a:ln>
                <a:solidFill>
                  <a:schemeClr val="tx1"/>
                </a:solidFill>
                <a:effectLst/>
                <a:latin typeface="Arial" panose="020B0604020202020204" pitchFamily="34" charset="0"/>
              </a:rPr>
              <a:t>Monitor ticket status and priority.</a:t>
            </a:r>
          </a:p>
          <a:p>
            <a:pPr marL="0" marR="0" lvl="0" indent="0" algn="l" defTabSz="914400" rtl="0" eaLnBrk="0" fontAlgn="base" latinLnBrk="0" hangingPunct="0">
              <a:lnSpc>
                <a:spcPct val="100000"/>
              </a:lnSpc>
              <a:spcBef>
                <a:spcPct val="0"/>
              </a:spcBef>
              <a:spcAft>
                <a:spcPct val="0"/>
              </a:spcAft>
              <a:buClrTx/>
              <a:buSzTx/>
              <a:tabLst/>
            </a:pPr>
            <a:endParaRPr kumimoji="0" lang="en-US" sz="20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1" i="0" u="none" strike="noStrike" cap="none" normalizeH="0" baseline="0" dirty="0" smtClean="0">
                <a:ln>
                  <a:noFill/>
                </a:ln>
                <a:solidFill>
                  <a:schemeClr val="tx1"/>
                </a:solidFill>
                <a:effectLst/>
                <a:latin typeface="Arial" panose="020B0604020202020204" pitchFamily="34" charset="0"/>
              </a:rPr>
              <a:t>Measure resolution time and SLA compliance.</a:t>
            </a:r>
          </a:p>
          <a:p>
            <a:pPr marL="0" marR="0" lvl="0" indent="0" algn="l" defTabSz="914400" rtl="0" eaLnBrk="0" fontAlgn="base" latinLnBrk="0" hangingPunct="0">
              <a:lnSpc>
                <a:spcPct val="100000"/>
              </a:lnSpc>
              <a:spcBef>
                <a:spcPct val="0"/>
              </a:spcBef>
              <a:spcAft>
                <a:spcPct val="0"/>
              </a:spcAft>
              <a:buClrTx/>
              <a:buSzTx/>
              <a:tabLst/>
            </a:pPr>
            <a:endParaRPr kumimoji="0" lang="en-US" sz="20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1" i="0" u="none" strike="noStrike" cap="none" normalizeH="0" baseline="0" dirty="0" smtClean="0">
                <a:ln>
                  <a:noFill/>
                </a:ln>
                <a:solidFill>
                  <a:schemeClr val="tx1"/>
                </a:solidFill>
                <a:effectLst/>
                <a:latin typeface="Arial" panose="020B0604020202020204" pitchFamily="34" charset="0"/>
              </a:rPr>
              <a:t>Analyze technician workload.</a:t>
            </a:r>
          </a:p>
          <a:p>
            <a:pPr marL="0" marR="0" lvl="0" indent="0" algn="l" defTabSz="914400" rtl="0" eaLnBrk="0" fontAlgn="base" latinLnBrk="0" hangingPunct="0">
              <a:lnSpc>
                <a:spcPct val="100000"/>
              </a:lnSpc>
              <a:spcBef>
                <a:spcPct val="0"/>
              </a:spcBef>
              <a:spcAft>
                <a:spcPct val="0"/>
              </a:spcAft>
              <a:buClrTx/>
              <a:buSzTx/>
              <a:tabLst/>
            </a:pPr>
            <a:endParaRPr kumimoji="0" lang="en-US" sz="20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1" i="0" u="none" strike="noStrike" cap="none" normalizeH="0" baseline="0" dirty="0" smtClean="0">
                <a:ln>
                  <a:noFill/>
                </a:ln>
                <a:solidFill>
                  <a:schemeClr val="tx1"/>
                </a:solidFill>
                <a:effectLst/>
                <a:latin typeface="Arial" panose="020B0604020202020204" pitchFamily="34" charset="0"/>
              </a:rPr>
              <a:t>Identify common issue categories.</a:t>
            </a:r>
          </a:p>
          <a:p>
            <a:pPr marL="0" marR="0" lvl="0" indent="0" algn="l" defTabSz="914400" rtl="0" eaLnBrk="0" fontAlgn="base" latinLnBrk="0" hangingPunct="0">
              <a:lnSpc>
                <a:spcPct val="100000"/>
              </a:lnSpc>
              <a:spcBef>
                <a:spcPct val="0"/>
              </a:spcBef>
              <a:spcAft>
                <a:spcPct val="0"/>
              </a:spcAft>
              <a:buClrTx/>
              <a:buSzTx/>
              <a:tabLst/>
            </a:pPr>
            <a:endParaRPr kumimoji="0" lang="en-US" sz="20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1" i="0" u="none" strike="noStrike" cap="none" normalizeH="0" baseline="0" dirty="0" smtClean="0">
                <a:ln>
                  <a:noFill/>
                </a:ln>
                <a:solidFill>
                  <a:schemeClr val="tx1"/>
                </a:solidFill>
                <a:effectLst/>
                <a:latin typeface="Arial" panose="020B0604020202020204" pitchFamily="34" charset="0"/>
              </a:rPr>
              <a:t>Track ticket trends over time.</a:t>
            </a:r>
          </a:p>
          <a:p>
            <a:pPr marL="0" marR="0" lvl="0" indent="0" algn="l" defTabSz="914400" rtl="0" eaLnBrk="0" fontAlgn="base" latinLnBrk="0" hangingPunct="0">
              <a:lnSpc>
                <a:spcPct val="100000"/>
              </a:lnSpc>
              <a:spcBef>
                <a:spcPct val="0"/>
              </a:spcBef>
              <a:spcAft>
                <a:spcPct val="0"/>
              </a:spcAft>
              <a:buClrTx/>
              <a:buSzTx/>
              <a:tabLst/>
            </a:pPr>
            <a:endParaRPr kumimoji="0" lang="en-US" sz="20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1" i="0" u="none" strike="noStrike" cap="none" normalizeH="0" baseline="0" dirty="0" smtClean="0">
                <a:ln>
                  <a:noFill/>
                </a:ln>
                <a:solidFill>
                  <a:schemeClr val="tx1"/>
                </a:solidFill>
                <a:effectLst/>
                <a:latin typeface="Arial" panose="020B0604020202020204" pitchFamily="34" charset="0"/>
              </a:rPr>
              <a:t>Identify delays and unresolved tickets.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1" i="0" u="none" strike="noStrike" cap="none" normalizeH="0" baseline="0" dirty="0" smtClean="0">
                <a:ln>
                  <a:noFill/>
                </a:ln>
                <a:solidFill>
                  <a:schemeClr val="tx1"/>
                </a:solidFill>
                <a:effectLst/>
                <a:latin typeface="Arial" panose="020B0604020202020204" pitchFamily="34" charset="0"/>
              </a:rPr>
              <a:t>Support data-driven decision-making.</a:t>
            </a:r>
          </a:p>
        </p:txBody>
      </p:sp>
      <p:sp>
        <p:nvSpPr>
          <p:cNvPr id="6" name="TextBox 5"/>
          <p:cNvSpPr txBox="1"/>
          <p:nvPr/>
        </p:nvSpPr>
        <p:spPr>
          <a:xfrm>
            <a:off x="3429000" y="428038"/>
            <a:ext cx="2446311" cy="707886"/>
          </a:xfrm>
          <a:prstGeom prst="rect">
            <a:avLst/>
          </a:prstGeom>
          <a:noFill/>
        </p:spPr>
        <p:txBody>
          <a:bodyPr wrap="none" rtlCol="0">
            <a:spAutoFit/>
          </a:bodyPr>
          <a:lstStyle/>
          <a:p>
            <a:r>
              <a:rPr lang="en-US" sz="4000" b="1" dirty="0" smtClean="0"/>
              <a:t>OBJECTIVE</a:t>
            </a:r>
            <a:endParaRPr lang="en-IN" sz="4000" b="1" dirty="0"/>
          </a:p>
        </p:txBody>
      </p:sp>
    </p:spTree>
    <p:extLst>
      <p:ext uri="{BB962C8B-B14F-4D97-AF65-F5344CB8AC3E}">
        <p14:creationId xmlns:p14="http://schemas.microsoft.com/office/powerpoint/2010/main" val="2862591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F4AF7E-7813-4879-8B55-5575B0080D39}" type="datetime3">
              <a:rPr lang="en-US" smtClean="0"/>
              <a:t>17 September 2026</a:t>
            </a:fld>
            <a:endParaRPr lang="en-US"/>
          </a:p>
        </p:txBody>
      </p:sp>
      <p:sp>
        <p:nvSpPr>
          <p:cNvPr id="3" name="Footer Placeholder 2"/>
          <p:cNvSpPr>
            <a:spLocks noGrp="1"/>
          </p:cNvSpPr>
          <p:nvPr>
            <p:ph type="ftr" sz="quarter" idx="11"/>
          </p:nvPr>
        </p:nvSpPr>
        <p:spPr/>
        <p:txBody>
          <a:bodyPr/>
          <a:lstStyle/>
          <a:p>
            <a:r>
              <a:rPr lang="en-US" smtClean="0"/>
              <a:t>School of Computing - CSE</a:t>
            </a:r>
            <a:endParaRPr lang="en-US"/>
          </a:p>
        </p:txBody>
      </p:sp>
      <p:sp>
        <p:nvSpPr>
          <p:cNvPr id="4" name="Slide Number Placeholder 3"/>
          <p:cNvSpPr>
            <a:spLocks noGrp="1"/>
          </p:cNvSpPr>
          <p:nvPr>
            <p:ph type="sldNum" sz="quarter" idx="12"/>
          </p:nvPr>
        </p:nvSpPr>
        <p:spPr/>
        <p:txBody>
          <a:bodyPr/>
          <a:lstStyle/>
          <a:p>
            <a:fld id="{7B28076C-CE04-4A00-BFAA-A90EA8355859}" type="slidenum">
              <a:rPr lang="en-US" smtClean="0"/>
              <a:pPr/>
              <a:t>6</a:t>
            </a:fld>
            <a:endParaRPr lang="en-US"/>
          </a:p>
        </p:txBody>
      </p:sp>
      <p:sp>
        <p:nvSpPr>
          <p:cNvPr id="5" name="TextBox 4"/>
          <p:cNvSpPr txBox="1"/>
          <p:nvPr/>
        </p:nvSpPr>
        <p:spPr>
          <a:xfrm>
            <a:off x="2667000" y="457200"/>
            <a:ext cx="4207306" cy="584775"/>
          </a:xfrm>
          <a:prstGeom prst="rect">
            <a:avLst/>
          </a:prstGeom>
          <a:noFill/>
        </p:spPr>
        <p:txBody>
          <a:bodyPr wrap="none" rtlCol="0">
            <a:spAutoFit/>
          </a:bodyPr>
          <a:lstStyle/>
          <a:p>
            <a:r>
              <a:rPr lang="en-US" sz="3200" b="1" dirty="0" smtClean="0"/>
              <a:t>SYSTEM ARCHITECTURE</a:t>
            </a:r>
            <a:endParaRPr lang="en-IN" sz="3200" b="1"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1100" y="1554996"/>
            <a:ext cx="6781800" cy="4288333"/>
          </a:xfrm>
          <a:prstGeom prst="rect">
            <a:avLst/>
          </a:prstGeom>
        </p:spPr>
      </p:pic>
    </p:spTree>
    <p:extLst>
      <p:ext uri="{BB962C8B-B14F-4D97-AF65-F5344CB8AC3E}">
        <p14:creationId xmlns:p14="http://schemas.microsoft.com/office/powerpoint/2010/main" val="26484648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F4AF7E-7813-4879-8B55-5575B0080D39}" type="datetime3">
              <a:rPr lang="en-US" smtClean="0"/>
              <a:t>17 September 2026</a:t>
            </a:fld>
            <a:endParaRPr lang="en-US"/>
          </a:p>
        </p:txBody>
      </p:sp>
      <p:sp>
        <p:nvSpPr>
          <p:cNvPr id="3" name="Footer Placeholder 2"/>
          <p:cNvSpPr>
            <a:spLocks noGrp="1"/>
          </p:cNvSpPr>
          <p:nvPr>
            <p:ph type="ftr" sz="quarter" idx="11"/>
          </p:nvPr>
        </p:nvSpPr>
        <p:spPr/>
        <p:txBody>
          <a:bodyPr/>
          <a:lstStyle/>
          <a:p>
            <a:r>
              <a:rPr lang="en-US" smtClean="0"/>
              <a:t>School of Computing - CSE</a:t>
            </a:r>
            <a:endParaRPr lang="en-US"/>
          </a:p>
        </p:txBody>
      </p:sp>
      <p:sp>
        <p:nvSpPr>
          <p:cNvPr id="4" name="Slide Number Placeholder 3"/>
          <p:cNvSpPr>
            <a:spLocks noGrp="1"/>
          </p:cNvSpPr>
          <p:nvPr>
            <p:ph type="sldNum" sz="quarter" idx="12"/>
          </p:nvPr>
        </p:nvSpPr>
        <p:spPr/>
        <p:txBody>
          <a:bodyPr/>
          <a:lstStyle/>
          <a:p>
            <a:fld id="{7B28076C-CE04-4A00-BFAA-A90EA8355859}" type="slidenum">
              <a:rPr lang="en-US" smtClean="0"/>
              <a:pPr/>
              <a:t>7</a:t>
            </a:fld>
            <a:endParaRPr lang="en-US"/>
          </a:p>
        </p:txBody>
      </p:sp>
      <p:sp>
        <p:nvSpPr>
          <p:cNvPr id="5" name="Rectangle 1"/>
          <p:cNvSpPr>
            <a:spLocks noChangeArrowheads="1"/>
          </p:cNvSpPr>
          <p:nvPr/>
        </p:nvSpPr>
        <p:spPr bwMode="auto">
          <a:xfrm>
            <a:off x="609600" y="1617510"/>
            <a:ext cx="8077200" cy="4355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7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b="1" i="0" u="none" strike="noStrike" cap="none" normalizeH="0" baseline="0" dirty="0" smtClean="0">
                <a:ln>
                  <a:noFill/>
                </a:ln>
                <a:solidFill>
                  <a:schemeClr val="tx1"/>
                </a:solidFill>
                <a:effectLst/>
                <a:latin typeface="Arial" panose="020B0604020202020204" pitchFamily="34" charset="0"/>
              </a:rPr>
              <a:t>Data Collection: </a:t>
            </a:r>
            <a:r>
              <a:rPr kumimoji="0" lang="en-US" sz="1800" b="0" i="0" u="none" strike="noStrike" cap="none" normalizeH="0" baseline="0" dirty="0" smtClean="0">
                <a:ln>
                  <a:noFill/>
                </a:ln>
                <a:solidFill>
                  <a:schemeClr val="tx1"/>
                </a:solidFill>
                <a:effectLst/>
                <a:latin typeface="Arial" panose="020B0604020202020204" pitchFamily="34" charset="0"/>
              </a:rPr>
              <a:t>Import and organize IT helpdesk ticket data from structured sources.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1" i="0" u="none" strike="noStrike" cap="none" normalizeH="0" baseline="0" dirty="0" smtClean="0">
                <a:ln>
                  <a:noFill/>
                </a:ln>
                <a:solidFill>
                  <a:schemeClr val="tx1"/>
                </a:solidFill>
                <a:effectLst/>
                <a:latin typeface="Arial" panose="020B0604020202020204" pitchFamily="34" charset="0"/>
              </a:rPr>
              <a:t>Data Preprocessing:</a:t>
            </a:r>
            <a:r>
              <a:rPr kumimoji="0" lang="en-US" sz="1800" b="0" i="0" u="none" strike="noStrike" cap="none" normalizeH="0" baseline="0" dirty="0" smtClean="0">
                <a:ln>
                  <a:noFill/>
                </a:ln>
                <a:solidFill>
                  <a:schemeClr val="tx1"/>
                </a:solidFill>
                <a:effectLst/>
                <a:latin typeface="Arial" panose="020B0604020202020204" pitchFamily="34" charset="0"/>
              </a:rPr>
              <a:t> Clean, validate, and standardize the dataset by handling missing and duplicate records.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1" i="0" u="none" strike="noStrike" cap="none" normalizeH="0" baseline="0" dirty="0" smtClean="0">
                <a:ln>
                  <a:noFill/>
                </a:ln>
                <a:solidFill>
                  <a:schemeClr val="tx1"/>
                </a:solidFill>
                <a:effectLst/>
                <a:latin typeface="Arial" panose="020B0604020202020204" pitchFamily="34" charset="0"/>
              </a:rPr>
              <a:t>Data Transformation:</a:t>
            </a:r>
            <a:r>
              <a:rPr kumimoji="0" lang="en-US" sz="1800" b="0" i="0" u="none" strike="noStrike" cap="none" normalizeH="0" baseline="0" dirty="0" smtClean="0">
                <a:ln>
                  <a:noFill/>
                </a:ln>
                <a:solidFill>
                  <a:schemeClr val="tx1"/>
                </a:solidFill>
                <a:effectLst/>
                <a:latin typeface="Arial" panose="020B0604020202020204" pitchFamily="34" charset="0"/>
              </a:rPr>
              <a:t> Prepare relevant fields and create calculated columns for analysis.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1" i="0" u="none" strike="noStrike" cap="none" normalizeH="0" baseline="0" dirty="0" smtClean="0">
                <a:ln>
                  <a:noFill/>
                </a:ln>
                <a:solidFill>
                  <a:schemeClr val="tx1"/>
                </a:solidFill>
                <a:effectLst/>
                <a:latin typeface="Arial" panose="020B0604020202020204" pitchFamily="34" charset="0"/>
              </a:rPr>
              <a:t>Data Modeling:</a:t>
            </a:r>
            <a:r>
              <a:rPr kumimoji="0" lang="en-US" sz="1800" b="0" i="0" u="none" strike="noStrike" cap="none" normalizeH="0" baseline="0" dirty="0" smtClean="0">
                <a:ln>
                  <a:noFill/>
                </a:ln>
                <a:solidFill>
                  <a:schemeClr val="tx1"/>
                </a:solidFill>
                <a:effectLst/>
                <a:latin typeface="Arial" panose="020B0604020202020204" pitchFamily="34" charset="0"/>
              </a:rPr>
              <a:t> Establish relationships between data tables for efficient analysis.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1" i="0" u="none" strike="noStrike" cap="none" normalizeH="0" baseline="0" dirty="0" smtClean="0">
                <a:ln>
                  <a:noFill/>
                </a:ln>
                <a:solidFill>
                  <a:schemeClr val="tx1"/>
                </a:solidFill>
                <a:effectLst/>
                <a:latin typeface="Arial" panose="020B0604020202020204" pitchFamily="34" charset="0"/>
              </a:rPr>
              <a:t>KPI Development:</a:t>
            </a:r>
            <a:r>
              <a:rPr kumimoji="0" lang="en-US" sz="1800" b="0" i="0" u="none" strike="noStrike" cap="none" normalizeH="0" baseline="0" dirty="0" smtClean="0">
                <a:ln>
                  <a:noFill/>
                </a:ln>
                <a:solidFill>
                  <a:schemeClr val="tx1"/>
                </a:solidFill>
                <a:effectLst/>
                <a:latin typeface="Arial" panose="020B0604020202020204" pitchFamily="34" charset="0"/>
              </a:rPr>
              <a:t> Create key performance indicators using DAX.</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1" i="0" u="none" strike="noStrike" cap="none" normalizeH="0" baseline="0" dirty="0" smtClean="0">
                <a:ln>
                  <a:noFill/>
                </a:ln>
                <a:solidFill>
                  <a:schemeClr val="tx1"/>
                </a:solidFill>
                <a:effectLst/>
                <a:latin typeface="Arial" panose="020B0604020202020204" pitchFamily="34" charset="0"/>
              </a:rPr>
              <a:t>Dashboard Development:</a:t>
            </a:r>
            <a:r>
              <a:rPr kumimoji="0" lang="en-US" sz="1800" b="0" i="0" u="none" strike="noStrike" cap="none" normalizeH="0" baseline="0" dirty="0" smtClean="0">
                <a:ln>
                  <a:noFill/>
                </a:ln>
                <a:solidFill>
                  <a:schemeClr val="tx1"/>
                </a:solidFill>
                <a:effectLst/>
                <a:latin typeface="Arial" panose="020B0604020202020204" pitchFamily="34" charset="0"/>
              </a:rPr>
              <a:t> Design interactive Power BI dashboards with relevant charts, cards, and filters.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1" i="0" u="none" strike="noStrike" cap="none" normalizeH="0" baseline="0" dirty="0" smtClean="0">
                <a:ln>
                  <a:noFill/>
                </a:ln>
                <a:solidFill>
                  <a:schemeClr val="tx1"/>
                </a:solidFill>
                <a:effectLst/>
                <a:latin typeface="Arial" panose="020B0604020202020204" pitchFamily="34" charset="0"/>
              </a:rPr>
              <a:t>Performance Monitoring:</a:t>
            </a:r>
            <a:r>
              <a:rPr kumimoji="0" lang="en-US" sz="1800" b="0" i="0" u="none" strike="noStrike" cap="none" normalizeH="0" baseline="0" dirty="0" smtClean="0">
                <a:ln>
                  <a:noFill/>
                </a:ln>
                <a:solidFill>
                  <a:schemeClr val="tx1"/>
                </a:solidFill>
                <a:effectLst/>
                <a:latin typeface="Arial" panose="020B0604020202020204" pitchFamily="34" charset="0"/>
              </a:rPr>
              <a:t> Analyze ticket status, resolution time, technician workload, and SLA compliance.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1" i="0" u="none" strike="noStrike" cap="none" normalizeH="0" baseline="0" dirty="0" smtClean="0">
                <a:ln>
                  <a:noFill/>
                </a:ln>
                <a:solidFill>
                  <a:schemeClr val="tx1"/>
                </a:solidFill>
                <a:effectLst/>
                <a:latin typeface="Arial" panose="020B0604020202020204" pitchFamily="34" charset="0"/>
              </a:rPr>
              <a:t>Insight Generation:</a:t>
            </a:r>
            <a:r>
              <a:rPr kumimoji="0" lang="en-US" sz="1800" b="0" i="0" u="none" strike="noStrike" cap="none" normalizeH="0" baseline="0" dirty="0" smtClean="0">
                <a:ln>
                  <a:noFill/>
                </a:ln>
                <a:solidFill>
                  <a:schemeClr val="tx1"/>
                </a:solidFill>
                <a:effectLst/>
                <a:latin typeface="Arial" panose="020B0604020202020204" pitchFamily="34" charset="0"/>
              </a:rPr>
              <a:t> Identify ticket trends, service delays, and areas for operational improvement.</a:t>
            </a:r>
          </a:p>
        </p:txBody>
      </p:sp>
      <p:sp>
        <p:nvSpPr>
          <p:cNvPr id="6" name="TextBox 5"/>
          <p:cNvSpPr txBox="1"/>
          <p:nvPr/>
        </p:nvSpPr>
        <p:spPr>
          <a:xfrm>
            <a:off x="2438400" y="548447"/>
            <a:ext cx="4951805" cy="584775"/>
          </a:xfrm>
          <a:prstGeom prst="rect">
            <a:avLst/>
          </a:prstGeom>
          <a:noFill/>
        </p:spPr>
        <p:txBody>
          <a:bodyPr wrap="none" rtlCol="0">
            <a:spAutoFit/>
          </a:bodyPr>
          <a:lstStyle/>
          <a:p>
            <a:r>
              <a:rPr lang="en-US" sz="3200" b="1" dirty="0" smtClean="0"/>
              <a:t>MODULE IMPLEMENTATION</a:t>
            </a:r>
            <a:endParaRPr lang="en-IN" sz="3200" b="1" dirty="0"/>
          </a:p>
        </p:txBody>
      </p:sp>
    </p:spTree>
    <p:extLst>
      <p:ext uri="{BB962C8B-B14F-4D97-AF65-F5344CB8AC3E}">
        <p14:creationId xmlns:p14="http://schemas.microsoft.com/office/powerpoint/2010/main" val="29364448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F4AF7E-7813-4879-8B55-5575B0080D39}" type="datetime3">
              <a:rPr lang="en-US" smtClean="0"/>
              <a:t>17 September 2026</a:t>
            </a:fld>
            <a:endParaRPr lang="en-US"/>
          </a:p>
        </p:txBody>
      </p:sp>
      <p:sp>
        <p:nvSpPr>
          <p:cNvPr id="3" name="Footer Placeholder 2"/>
          <p:cNvSpPr>
            <a:spLocks noGrp="1"/>
          </p:cNvSpPr>
          <p:nvPr>
            <p:ph type="ftr" sz="quarter" idx="11"/>
          </p:nvPr>
        </p:nvSpPr>
        <p:spPr/>
        <p:txBody>
          <a:bodyPr/>
          <a:lstStyle/>
          <a:p>
            <a:r>
              <a:rPr lang="en-US" smtClean="0"/>
              <a:t>School of Computing - CSE</a:t>
            </a:r>
            <a:endParaRPr lang="en-US"/>
          </a:p>
        </p:txBody>
      </p:sp>
      <p:sp>
        <p:nvSpPr>
          <p:cNvPr id="4" name="Slide Number Placeholder 3"/>
          <p:cNvSpPr>
            <a:spLocks noGrp="1"/>
          </p:cNvSpPr>
          <p:nvPr>
            <p:ph type="sldNum" sz="quarter" idx="12"/>
          </p:nvPr>
        </p:nvSpPr>
        <p:spPr/>
        <p:txBody>
          <a:bodyPr/>
          <a:lstStyle/>
          <a:p>
            <a:fld id="{7B28076C-CE04-4A00-BFAA-A90EA8355859}" type="slidenum">
              <a:rPr lang="en-US" smtClean="0"/>
              <a:pPr/>
              <a:t>8</a:t>
            </a:fld>
            <a:endParaRPr lang="en-US"/>
          </a:p>
        </p:txBody>
      </p:sp>
      <p:sp>
        <p:nvSpPr>
          <p:cNvPr id="5" name="Rectangle 1"/>
          <p:cNvSpPr>
            <a:spLocks noChangeArrowheads="1"/>
          </p:cNvSpPr>
          <p:nvPr/>
        </p:nvSpPr>
        <p:spPr bwMode="auto">
          <a:xfrm>
            <a:off x="838200" y="1600200"/>
            <a:ext cx="7609776"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1" i="0" u="none" strike="noStrike" cap="none" normalizeH="0" baseline="0" dirty="0" smtClean="0">
                <a:ln>
                  <a:noFill/>
                </a:ln>
                <a:solidFill>
                  <a:schemeClr val="tx1"/>
                </a:solidFill>
                <a:effectLst/>
                <a:latin typeface="Arial" panose="020B0604020202020204" pitchFamily="34" charset="0"/>
              </a:rPr>
              <a:t>Identifies major issue categories and priorities.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sz="20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1" i="0" u="none" strike="noStrike" cap="none" normalizeH="0" baseline="0" dirty="0" smtClean="0">
                <a:ln>
                  <a:noFill/>
                </a:ln>
                <a:solidFill>
                  <a:schemeClr val="tx1"/>
                </a:solidFill>
                <a:effectLst/>
                <a:latin typeface="Arial" panose="020B0604020202020204" pitchFamily="34" charset="0"/>
              </a:rPr>
              <a:t>Monitors technician workload and resolution time.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sz="20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1" i="0" u="none" strike="noStrike" cap="none" normalizeH="0" baseline="0" dirty="0" smtClean="0">
                <a:ln>
                  <a:noFill/>
                </a:ln>
                <a:solidFill>
                  <a:schemeClr val="tx1"/>
                </a:solidFill>
                <a:effectLst/>
                <a:latin typeface="Arial" panose="020B0604020202020204" pitchFamily="34" charset="0"/>
              </a:rPr>
              <a:t>Highlights SLA performance and support trends.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sz="20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1" i="0" u="none" strike="noStrike" cap="none" normalizeH="0" baseline="0" dirty="0" smtClean="0">
                <a:ln>
                  <a:noFill/>
                </a:ln>
                <a:solidFill>
                  <a:schemeClr val="tx1"/>
                </a:solidFill>
                <a:effectLst/>
                <a:latin typeface="Arial" panose="020B0604020202020204" pitchFamily="34" charset="0"/>
              </a:rPr>
              <a:t>Identifies unresolved and high-priority tickets.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sz="20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1" i="0" u="none" strike="noStrike" cap="none" normalizeH="0" baseline="0" dirty="0" smtClean="0">
                <a:ln>
                  <a:noFill/>
                </a:ln>
                <a:solidFill>
                  <a:schemeClr val="tx1"/>
                </a:solidFill>
                <a:effectLst/>
                <a:latin typeface="Arial" panose="020B0604020202020204" pitchFamily="34" charset="0"/>
              </a:rPr>
              <a:t>Enables comparison of ticket volumes across categories.</a:t>
            </a:r>
          </a:p>
          <a:p>
            <a:pPr marL="0" marR="0" lvl="0" indent="0" algn="l" defTabSz="914400" rtl="0" eaLnBrk="0" fontAlgn="base" latinLnBrk="0" hangingPunct="0">
              <a:lnSpc>
                <a:spcPct val="100000"/>
              </a:lnSpc>
              <a:spcBef>
                <a:spcPct val="0"/>
              </a:spcBef>
              <a:spcAft>
                <a:spcPct val="0"/>
              </a:spcAft>
              <a:buClrTx/>
              <a:buSzTx/>
              <a:tabLst/>
            </a:pPr>
            <a:endParaRPr kumimoji="0" lang="en-US" sz="20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1" i="0" u="none" strike="noStrike" cap="none" normalizeH="0" baseline="0" dirty="0" smtClean="0">
                <a:ln>
                  <a:noFill/>
                </a:ln>
                <a:solidFill>
                  <a:schemeClr val="tx1"/>
                </a:solidFill>
                <a:effectLst/>
                <a:latin typeface="Arial" panose="020B0604020202020204" pitchFamily="34" charset="0"/>
              </a:rPr>
              <a:t>Supports data-driven improvements in helpdesk operations.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
        <p:nvSpPr>
          <p:cNvPr id="6" name="TextBox 5"/>
          <p:cNvSpPr txBox="1"/>
          <p:nvPr/>
        </p:nvSpPr>
        <p:spPr>
          <a:xfrm>
            <a:off x="2133600" y="414258"/>
            <a:ext cx="4690387" cy="923330"/>
          </a:xfrm>
          <a:prstGeom prst="rect">
            <a:avLst/>
          </a:prstGeom>
          <a:noFill/>
        </p:spPr>
        <p:txBody>
          <a:bodyPr wrap="none" rtlCol="0">
            <a:spAutoFit/>
          </a:bodyPr>
          <a:lstStyle/>
          <a:p>
            <a:r>
              <a:rPr lang="en-US" sz="3600" b="1" dirty="0"/>
              <a:t>Results and Discussions</a:t>
            </a:r>
          </a:p>
          <a:p>
            <a:endParaRPr lang="en-IN" dirty="0"/>
          </a:p>
        </p:txBody>
      </p:sp>
    </p:spTree>
    <p:extLst>
      <p:ext uri="{BB962C8B-B14F-4D97-AF65-F5344CB8AC3E}">
        <p14:creationId xmlns:p14="http://schemas.microsoft.com/office/powerpoint/2010/main" val="7573902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F4AF7E-7813-4879-8B55-5575B0080D39}" type="datetime3">
              <a:rPr lang="en-US" smtClean="0"/>
              <a:t>17 September 2026</a:t>
            </a:fld>
            <a:endParaRPr lang="en-US"/>
          </a:p>
        </p:txBody>
      </p:sp>
      <p:sp>
        <p:nvSpPr>
          <p:cNvPr id="3" name="Footer Placeholder 2"/>
          <p:cNvSpPr>
            <a:spLocks noGrp="1"/>
          </p:cNvSpPr>
          <p:nvPr>
            <p:ph type="ftr" sz="quarter" idx="11"/>
          </p:nvPr>
        </p:nvSpPr>
        <p:spPr/>
        <p:txBody>
          <a:bodyPr/>
          <a:lstStyle/>
          <a:p>
            <a:r>
              <a:rPr lang="en-US" smtClean="0"/>
              <a:t>School of Computing - CSE</a:t>
            </a:r>
            <a:endParaRPr lang="en-US"/>
          </a:p>
        </p:txBody>
      </p:sp>
      <p:sp>
        <p:nvSpPr>
          <p:cNvPr id="4" name="Slide Number Placeholder 3"/>
          <p:cNvSpPr>
            <a:spLocks noGrp="1"/>
          </p:cNvSpPr>
          <p:nvPr>
            <p:ph type="sldNum" sz="quarter" idx="12"/>
          </p:nvPr>
        </p:nvSpPr>
        <p:spPr/>
        <p:txBody>
          <a:bodyPr/>
          <a:lstStyle/>
          <a:p>
            <a:fld id="{7B28076C-CE04-4A00-BFAA-A90EA8355859}" type="slidenum">
              <a:rPr lang="en-US" smtClean="0"/>
              <a:pPr/>
              <a:t>9</a:t>
            </a:fld>
            <a:endParaRPr lang="en-US"/>
          </a:p>
        </p:txBody>
      </p:sp>
      <p:sp>
        <p:nvSpPr>
          <p:cNvPr id="6" name="Rectangle 2"/>
          <p:cNvSpPr>
            <a:spLocks noChangeArrowheads="1"/>
          </p:cNvSpPr>
          <p:nvPr/>
        </p:nvSpPr>
        <p:spPr bwMode="auto">
          <a:xfrm>
            <a:off x="533400" y="1630115"/>
            <a:ext cx="9094730" cy="3754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1" i="0" u="none" strike="noStrike" cap="none" normalizeH="0" baseline="0" dirty="0" smtClean="0">
                <a:ln>
                  <a:noFill/>
                </a:ln>
                <a:solidFill>
                  <a:schemeClr val="tx1"/>
                </a:solidFill>
                <a:effectLst/>
                <a:latin typeface="Arial" panose="020B0604020202020204" pitchFamily="34" charset="0"/>
              </a:rPr>
              <a:t>Provides centralized and interactive monitoring through Power BI.</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sz="20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1" i="0" u="none" strike="noStrike" cap="none" normalizeH="0" baseline="0" dirty="0" smtClean="0">
                <a:ln>
                  <a:noFill/>
                </a:ln>
                <a:solidFill>
                  <a:schemeClr val="tx1"/>
                </a:solidFill>
                <a:effectLst/>
                <a:latin typeface="Arial" panose="020B0604020202020204" pitchFamily="34" charset="0"/>
              </a:rPr>
              <a:t>Enables effective analysis of ticket and support performance.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sz="20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1" i="0" u="none" strike="noStrike" cap="none" normalizeH="0" baseline="0" dirty="0" smtClean="0">
                <a:ln>
                  <a:noFill/>
                </a:ln>
                <a:solidFill>
                  <a:schemeClr val="tx1"/>
                </a:solidFill>
                <a:effectLst/>
                <a:latin typeface="Arial" panose="020B0604020202020204" pitchFamily="34" charset="0"/>
              </a:rPr>
              <a:t>Improves visibility into resolution time and SLA compliance.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sz="20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1" i="0" u="none" strike="noStrike" cap="none" normalizeH="0" baseline="0" dirty="0" smtClean="0">
                <a:ln>
                  <a:noFill/>
                </a:ln>
                <a:solidFill>
                  <a:schemeClr val="tx1"/>
                </a:solidFill>
                <a:effectLst/>
                <a:latin typeface="Arial" panose="020B0604020202020204" pitchFamily="34" charset="0"/>
              </a:rPr>
              <a:t>Supports efficient resource and workload management.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sz="20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1" i="0" u="none" strike="noStrike" cap="none" normalizeH="0" baseline="0" dirty="0" smtClean="0">
                <a:ln>
                  <a:noFill/>
                </a:ln>
                <a:solidFill>
                  <a:schemeClr val="tx1"/>
                </a:solidFill>
                <a:effectLst/>
                <a:latin typeface="Arial" panose="020B0604020202020204" pitchFamily="34" charset="0"/>
              </a:rPr>
              <a:t>Establishes a foundation for future predictive analytics.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1" i="0" u="none" strike="noStrike" cap="none" normalizeH="0" baseline="0" dirty="0" smtClean="0">
                <a:ln>
                  <a:noFill/>
                </a:ln>
                <a:solidFill>
                  <a:schemeClr val="tx1"/>
                </a:solidFill>
                <a:effectLst/>
                <a:latin typeface="Arial" panose="020B0604020202020204" pitchFamily="34" charset="0"/>
              </a:rPr>
              <a:t>Facilitates data-driven operational decision-making</a:t>
            </a:r>
            <a:r>
              <a:rPr kumimoji="0" lang="en-US" sz="1800" b="0" i="0" u="none" strike="noStrike" cap="none" normalizeH="0" baseline="0" dirty="0" smtClean="0">
                <a:ln>
                  <a:noFill/>
                </a:ln>
                <a:solidFill>
                  <a:schemeClr val="tx1"/>
                </a:solidFill>
                <a:effectLst/>
                <a:latin typeface="Arial" panose="020B0604020202020204" pitchFamily="34" charset="0"/>
              </a:rPr>
              <a:t>.</a:t>
            </a:r>
          </a:p>
        </p:txBody>
      </p:sp>
      <p:sp>
        <p:nvSpPr>
          <p:cNvPr id="7" name="TextBox 6"/>
          <p:cNvSpPr txBox="1"/>
          <p:nvPr/>
        </p:nvSpPr>
        <p:spPr>
          <a:xfrm>
            <a:off x="3276600" y="474088"/>
            <a:ext cx="2447914" cy="584775"/>
          </a:xfrm>
          <a:prstGeom prst="rect">
            <a:avLst/>
          </a:prstGeom>
          <a:noFill/>
        </p:spPr>
        <p:txBody>
          <a:bodyPr wrap="none" rtlCol="0">
            <a:spAutoFit/>
          </a:bodyPr>
          <a:lstStyle/>
          <a:p>
            <a:r>
              <a:rPr lang="en-US" sz="3200" b="1" dirty="0" smtClean="0"/>
              <a:t>CONCLUSION</a:t>
            </a:r>
            <a:endParaRPr lang="en-IN" sz="3200" b="1" dirty="0"/>
          </a:p>
        </p:txBody>
      </p:sp>
    </p:spTree>
    <p:extLst>
      <p:ext uri="{BB962C8B-B14F-4D97-AF65-F5344CB8AC3E}">
        <p14:creationId xmlns:p14="http://schemas.microsoft.com/office/powerpoint/2010/main" val="27210102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15FA3D9-5B38-A267-7691-582DAE68AEB0}"/>
              </a:ext>
            </a:extLst>
          </p:cNvPr>
          <p:cNvSpPr>
            <a:spLocks noGrp="1"/>
          </p:cNvSpPr>
          <p:nvPr>
            <p:ph type="title"/>
          </p:nvPr>
        </p:nvSpPr>
        <p:spPr/>
        <p:txBody>
          <a:bodyPr>
            <a:normAutofit/>
          </a:bodyPr>
          <a:lstStyle/>
          <a:p>
            <a:r>
              <a:rPr lang="en-IN" sz="3600" dirty="0"/>
              <a:t>REFERENCES</a:t>
            </a:r>
          </a:p>
        </p:txBody>
      </p:sp>
      <p:sp>
        <p:nvSpPr>
          <p:cNvPr id="4" name="Date Placeholder 3">
            <a:extLst>
              <a:ext uri="{FF2B5EF4-FFF2-40B4-BE49-F238E27FC236}">
                <a16:creationId xmlns:a16="http://schemas.microsoft.com/office/drawing/2014/main" xmlns="" id="{2B427FE9-29DA-0E49-B4DE-4727923C5DB0}"/>
              </a:ext>
            </a:extLst>
          </p:cNvPr>
          <p:cNvSpPr>
            <a:spLocks noGrp="1"/>
          </p:cNvSpPr>
          <p:nvPr>
            <p:ph type="dt" sz="half" idx="10"/>
          </p:nvPr>
        </p:nvSpPr>
        <p:spPr/>
        <p:txBody>
          <a:bodyPr/>
          <a:lstStyle/>
          <a:p>
            <a:endParaRPr lang="en-US" dirty="0"/>
          </a:p>
        </p:txBody>
      </p:sp>
      <p:sp>
        <p:nvSpPr>
          <p:cNvPr id="6" name="Slide Number Placeholder 5">
            <a:extLst>
              <a:ext uri="{FF2B5EF4-FFF2-40B4-BE49-F238E27FC236}">
                <a16:creationId xmlns:a16="http://schemas.microsoft.com/office/drawing/2014/main" xmlns="" id="{B2B0431B-9CC5-946D-2E4D-E25A5A48B915}"/>
              </a:ext>
            </a:extLst>
          </p:cNvPr>
          <p:cNvSpPr>
            <a:spLocks noGrp="1"/>
          </p:cNvSpPr>
          <p:nvPr>
            <p:ph type="sldNum" sz="quarter" idx="12"/>
          </p:nvPr>
        </p:nvSpPr>
        <p:spPr/>
        <p:txBody>
          <a:bodyPr/>
          <a:lstStyle/>
          <a:p>
            <a:fld id="{7B28076C-CE04-4A00-BFAA-A90EA8355859}" type="slidenum">
              <a:rPr lang="en-US" smtClean="0"/>
              <a:pPr/>
              <a:t>10</a:t>
            </a:fld>
            <a:endParaRPr lang="en-US"/>
          </a:p>
        </p:txBody>
      </p:sp>
      <p:sp>
        <p:nvSpPr>
          <p:cNvPr id="8" name="Rectangle 2"/>
          <p:cNvSpPr>
            <a:spLocks noGrp="1" noChangeArrowheads="1"/>
          </p:cNvSpPr>
          <p:nvPr>
            <p:ph idx="1"/>
          </p:nvPr>
        </p:nvSpPr>
        <p:spPr bwMode="auto">
          <a:xfrm>
            <a:off x="779860" y="1371600"/>
            <a:ext cx="7267759" cy="46628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9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sz="1800" b="0" i="0" u="none" strike="noStrike" cap="none" normalizeH="0" baseline="0" dirty="0" smtClean="0">
                <a:ln>
                  <a:noFill/>
                </a:ln>
                <a:solidFill>
                  <a:schemeClr val="tx1"/>
                </a:solidFill>
                <a:effectLst/>
                <a:latin typeface="Arial" panose="020B0604020202020204" pitchFamily="34" charset="0"/>
                <a:hlinkClick r:id="rId3"/>
              </a:rPr>
              <a:t>Microsoft Power BI Documentation</a:t>
            </a:r>
            <a:endParaRPr kumimoji="0" 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endParaRPr kumimoji="0" 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sz="1800" b="0" i="0" u="none" strike="noStrike" cap="none" normalizeH="0" baseline="0" dirty="0" smtClean="0">
                <a:ln>
                  <a:noFill/>
                </a:ln>
                <a:solidFill>
                  <a:schemeClr val="tx1"/>
                </a:solidFill>
                <a:effectLst/>
                <a:latin typeface="Arial" panose="020B0604020202020204" pitchFamily="34" charset="0"/>
                <a:hlinkClick r:id="rId4"/>
              </a:rPr>
              <a:t>Microsoft Power Query Documentation</a:t>
            </a:r>
            <a:endParaRPr kumimoji="0" 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endParaRPr kumimoji="0" 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sz="1800" b="0" i="0" u="none" strike="noStrike" cap="none" normalizeH="0" baseline="0" dirty="0" smtClean="0">
                <a:ln>
                  <a:noFill/>
                </a:ln>
                <a:solidFill>
                  <a:schemeClr val="tx1"/>
                </a:solidFill>
                <a:effectLst/>
                <a:latin typeface="Arial" panose="020B0604020202020204" pitchFamily="34" charset="0"/>
                <a:hlinkClick r:id="rId5"/>
              </a:rPr>
              <a:t>Microsoft DAX Documentation</a:t>
            </a:r>
            <a:endParaRPr kumimoji="0" 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endParaRPr kumimoji="0" 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sz="1800" b="0" i="0" u="none" strike="noStrike" cap="none" normalizeH="0" baseline="0" dirty="0" smtClean="0">
                <a:ln>
                  <a:noFill/>
                </a:ln>
                <a:solidFill>
                  <a:schemeClr val="tx1"/>
                </a:solidFill>
                <a:effectLst/>
                <a:latin typeface="Arial" panose="020B0604020202020204" pitchFamily="34" charset="0"/>
                <a:hlinkClick r:id="rId6"/>
              </a:rPr>
              <a:t>DAX Function Reference</a:t>
            </a:r>
            <a:endParaRPr kumimoji="0" 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endParaRPr kumimoji="0" 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sz="1800" b="0" i="0" u="none" strike="noStrike" cap="none" normalizeH="0" baseline="0" dirty="0" smtClean="0">
                <a:ln>
                  <a:noFill/>
                </a:ln>
                <a:solidFill>
                  <a:schemeClr val="tx1"/>
                </a:solidFill>
                <a:effectLst/>
                <a:latin typeface="Arial" panose="020B0604020202020204" pitchFamily="34" charset="0"/>
                <a:hlinkClick r:id="rId7"/>
              </a:rPr>
              <a:t>Power BI Guidance &amp; Best Practices</a:t>
            </a:r>
            <a:endParaRPr kumimoji="0" 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endParaRPr kumimoji="0" 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sz="1800" b="1" i="0" u="none" strike="noStrike" cap="none" normalizeH="0" baseline="0" dirty="0" smtClean="0">
                <a:ln>
                  <a:noFill/>
                </a:ln>
                <a:solidFill>
                  <a:schemeClr val="tx1"/>
                </a:solidFill>
                <a:effectLst/>
                <a:latin typeface="Arial" panose="020B0604020202020204" pitchFamily="34" charset="0"/>
              </a:rPr>
              <a:t>Microsoft Learn – Power BI Data Analyst Resources</a:t>
            </a: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endParaRPr kumimoji="0" 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7"/>
              <a:tabLst/>
            </a:pPr>
            <a:r>
              <a:rPr kumimoji="0" lang="en-US" sz="1800" b="1" i="0" u="none" strike="noStrike" cap="none" normalizeH="0" baseline="0" dirty="0" smtClean="0">
                <a:ln>
                  <a:noFill/>
                </a:ln>
                <a:solidFill>
                  <a:schemeClr val="tx1"/>
                </a:solidFill>
                <a:effectLst/>
                <a:latin typeface="Arial" panose="020B0604020202020204" pitchFamily="34" charset="0"/>
              </a:rPr>
              <a:t>IT Service Management (ITSM) – Service Desk &amp; SLA Concepts</a:t>
            </a:r>
          </a:p>
          <a:p>
            <a:pPr marL="0" marR="0" lvl="0" indent="0" algn="l" defTabSz="914400" rtl="0" eaLnBrk="0" fontAlgn="base" latinLnBrk="0" hangingPunct="0">
              <a:lnSpc>
                <a:spcPct val="100000"/>
              </a:lnSpc>
              <a:spcBef>
                <a:spcPct val="0"/>
              </a:spcBef>
              <a:spcAft>
                <a:spcPct val="0"/>
              </a:spcAft>
              <a:buClrTx/>
              <a:buSzTx/>
              <a:buFontTx/>
              <a:buAutoNum type="arabicPeriod" startAt="7"/>
              <a:tabLst/>
            </a:pPr>
            <a:endParaRPr kumimoji="0" 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8"/>
              <a:tabLst/>
            </a:pPr>
            <a:r>
              <a:rPr kumimoji="0" lang="en-US" sz="1800" b="1" i="0" u="none" strike="noStrike" cap="none" normalizeH="0" baseline="0" dirty="0" smtClean="0">
                <a:ln>
                  <a:noFill/>
                </a:ln>
                <a:solidFill>
                  <a:schemeClr val="tx1"/>
                </a:solidFill>
                <a:effectLst/>
                <a:latin typeface="Arial" panose="020B0604020202020204" pitchFamily="34" charset="0"/>
              </a:rPr>
              <a:t>Dataset used for IT Helpdesk Ticket Analysis</a:t>
            </a:r>
            <a:endParaRPr kumimoji="0" 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116432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dirty="0"/>
              <a:t>THANK</a:t>
            </a:r>
            <a:r>
              <a:rPr lang="en-IN" dirty="0"/>
              <a:t> </a:t>
            </a:r>
            <a:r>
              <a:rPr lang="en-IN" sz="3600" dirty="0"/>
              <a:t>YOU</a:t>
            </a:r>
          </a:p>
        </p:txBody>
      </p:sp>
      <p:sp>
        <p:nvSpPr>
          <p:cNvPr id="3" name="Date Placeholder 2"/>
          <p:cNvSpPr>
            <a:spLocks noGrp="1"/>
          </p:cNvSpPr>
          <p:nvPr>
            <p:ph type="dt" sz="half" idx="10"/>
          </p:nvPr>
        </p:nvSpPr>
        <p:spPr/>
        <p:txBody>
          <a:bodyPr/>
          <a:lstStyle/>
          <a:p>
            <a:fld id="{9FE8A9F4-4DB3-4EF1-A315-68E41BB689F2}" type="datetime3">
              <a:rPr lang="en-US" smtClean="0"/>
              <a:t>17 September 2026</a:t>
            </a:fld>
            <a:endParaRPr lang="en-US"/>
          </a:p>
        </p:txBody>
      </p:sp>
      <p:sp>
        <p:nvSpPr>
          <p:cNvPr id="4" name="Footer Placeholder 3"/>
          <p:cNvSpPr>
            <a:spLocks noGrp="1"/>
          </p:cNvSpPr>
          <p:nvPr>
            <p:ph type="ftr" sz="quarter" idx="11"/>
          </p:nvPr>
        </p:nvSpPr>
        <p:spPr/>
        <p:txBody>
          <a:bodyPr/>
          <a:lstStyle/>
          <a:p>
            <a:r>
              <a:rPr lang="en-US"/>
              <a:t>School of Computing - CSE</a:t>
            </a:r>
          </a:p>
        </p:txBody>
      </p:sp>
      <p:sp>
        <p:nvSpPr>
          <p:cNvPr id="5" name="Slide Number Placeholder 4"/>
          <p:cNvSpPr>
            <a:spLocks noGrp="1"/>
          </p:cNvSpPr>
          <p:nvPr>
            <p:ph type="sldNum" sz="quarter" idx="12"/>
          </p:nvPr>
        </p:nvSpPr>
        <p:spPr/>
        <p:txBody>
          <a:bodyPr/>
          <a:lstStyle/>
          <a:p>
            <a:fld id="{7B28076C-CE04-4A00-BFAA-A90EA8355859}" type="slidenum">
              <a:rPr lang="en-US" smtClean="0"/>
              <a:pPr/>
              <a:t>11</a:t>
            </a:fld>
            <a:endParaRPr lang="en-US"/>
          </a:p>
        </p:txBody>
      </p:sp>
      <p:sp>
        <p:nvSpPr>
          <p:cNvPr id="6" name="Rectangle 5"/>
          <p:cNvSpPr/>
          <p:nvPr/>
        </p:nvSpPr>
        <p:spPr>
          <a:xfrm>
            <a:off x="609600" y="2690336"/>
            <a:ext cx="7918940" cy="1384995"/>
          </a:xfrm>
          <a:prstGeom prst="rect">
            <a:avLst/>
          </a:prstGeom>
        </p:spPr>
        <p:txBody>
          <a:bodyPr wrap="square">
            <a:spAutoFit/>
          </a:bodyPr>
          <a:lstStyle/>
          <a:p>
            <a:pPr algn="just"/>
            <a:r>
              <a:rPr lang="en-IN" sz="2800" dirty="0"/>
              <a:t>We thank God, Our Department, Guide, Panel Members, Supportive Professors and all Technical and non Technical staff who helped us in our Project.</a:t>
            </a:r>
          </a:p>
        </p:txBody>
      </p:sp>
    </p:spTree>
    <p:extLst>
      <p:ext uri="{BB962C8B-B14F-4D97-AF65-F5344CB8AC3E}">
        <p14:creationId xmlns:p14="http://schemas.microsoft.com/office/powerpoint/2010/main" val="1111329394"/>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6267</TotalTime>
  <Words>614</Words>
  <Application>Microsoft Office PowerPoint</Application>
  <PresentationFormat>On-screen Show (4:3)</PresentationFormat>
  <Paragraphs>143</Paragraphs>
  <Slides>11</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Custom Design</vt:lpstr>
      <vt:lpstr>  </vt:lpstr>
      <vt:lpstr>AGENDA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REFERENCES</vt:lpstr>
      <vt:lpstr>THANK YOU</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Windows User</dc:creator>
  <cp:lastModifiedBy>Microsoft account</cp:lastModifiedBy>
  <cp:revision>123</cp:revision>
  <dcterms:created xsi:type="dcterms:W3CDTF">2019-11-06T07:48:53Z</dcterms:created>
  <dcterms:modified xsi:type="dcterms:W3CDTF">2026-09-17T17:35:44Z</dcterms:modified>
</cp:coreProperties>
</file>